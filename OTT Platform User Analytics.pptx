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8"/>
  </p:notesMasterIdLst>
  <p:sldIdLst>
    <p:sldId id="256" r:id="rId2"/>
    <p:sldId id="259" r:id="rId3"/>
    <p:sldId id="258" r:id="rId4"/>
    <p:sldId id="274" r:id="rId5"/>
    <p:sldId id="260" r:id="rId6"/>
    <p:sldId id="261" r:id="rId7"/>
    <p:sldId id="262" r:id="rId8"/>
    <p:sldId id="263" r:id="rId9"/>
    <p:sldId id="270" r:id="rId10"/>
    <p:sldId id="272" r:id="rId11"/>
    <p:sldId id="267" r:id="rId12"/>
    <p:sldId id="268" r:id="rId13"/>
    <p:sldId id="269" r:id="rId14"/>
    <p:sldId id="273" r:id="rId15"/>
    <p:sldId id="265"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62" autoAdjust="0"/>
    <p:restoredTop sz="94061" autoAdjust="0"/>
  </p:normalViewPr>
  <p:slideViewPr>
    <p:cSldViewPr snapToGrid="0">
      <p:cViewPr varScale="1">
        <p:scale>
          <a:sx n="65" d="100"/>
          <a:sy n="65" d="100"/>
        </p:scale>
        <p:origin x="81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F50C30-D39A-4A05-9FCC-A41F2D82C675}" type="datetimeFigureOut">
              <a:rPr lang="en-US" smtClean="0"/>
              <a:t>5/18/2026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5E6AE-9316-4224-BD7D-1D6178264929}" type="slidenum">
              <a:rPr lang="en-US" smtClean="0"/>
              <a:t>‹#›</a:t>
            </a:fld>
            <a:endParaRPr lang="en-US" dirty="0"/>
          </a:p>
        </p:txBody>
      </p:sp>
    </p:spTree>
    <p:extLst>
      <p:ext uri="{BB962C8B-B14F-4D97-AF65-F5344CB8AC3E}">
        <p14:creationId xmlns:p14="http://schemas.microsoft.com/office/powerpoint/2010/main" val="369383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latinLnBrk="1"/>
            <a:r>
              <a:rPr lang="en-US" sz="1200" b="0" i="0" kern="1200" dirty="0">
                <a:solidFill>
                  <a:schemeClr val="tx1"/>
                </a:solidFill>
                <a:effectLst/>
                <a:latin typeface="+mn-lt"/>
                <a:ea typeface="+mn-ea"/>
                <a:cs typeface="+mn-cs"/>
              </a:rPr>
              <a:t>Based on elbow curve we took k=2</a:t>
            </a:r>
          </a:p>
          <a:p>
            <a:pPr latinLnBrk="1"/>
            <a:r>
              <a:rPr lang="en-US" sz="1200" b="0" i="0" kern="1200" dirty="0">
                <a:solidFill>
                  <a:schemeClr val="tx1"/>
                </a:solidFill>
                <a:effectLst/>
                <a:latin typeface="+mn-lt"/>
                <a:ea typeface="+mn-ea"/>
                <a:cs typeface="+mn-cs"/>
              </a:rPr>
              <a:t>Silhouette Score: 0.5586753768377206</a:t>
            </a:r>
          </a:p>
          <a:p>
            <a:pPr latinLnBrk="1"/>
            <a:r>
              <a:rPr lang="en-US" sz="1200" b="0" i="0" kern="1200" dirty="0">
                <a:solidFill>
                  <a:schemeClr val="tx1"/>
                </a:solidFill>
                <a:effectLst/>
                <a:latin typeface="+mn-lt"/>
                <a:ea typeface="+mn-ea"/>
                <a:cs typeface="+mn-cs"/>
              </a:rPr>
              <a:t>Davies-Bouldin Score: 0.5428148388252839</a:t>
            </a:r>
          </a:p>
          <a:p>
            <a:pPr latinLnBrk="1"/>
            <a:r>
              <a:rPr lang="en-US" sz="1200" b="0" i="0" kern="1200" dirty="0">
                <a:solidFill>
                  <a:schemeClr val="tx1"/>
                </a:solidFill>
                <a:effectLst/>
                <a:latin typeface="+mn-lt"/>
                <a:ea typeface="+mn-ea"/>
                <a:cs typeface="+mn-cs"/>
              </a:rPr>
              <a:t>Calinski-Harabasz Score: 7258.010014857899</a:t>
            </a:r>
          </a:p>
          <a:p>
            <a:br>
              <a:rPr lang="en-US" dirty="0"/>
            </a:br>
            <a:endParaRPr lang="en-US" dirty="0"/>
          </a:p>
        </p:txBody>
      </p:sp>
      <p:sp>
        <p:nvSpPr>
          <p:cNvPr id="4" name="Slide Number Placeholder 3"/>
          <p:cNvSpPr>
            <a:spLocks noGrp="1"/>
          </p:cNvSpPr>
          <p:nvPr>
            <p:ph type="sldNum" sz="quarter" idx="5"/>
          </p:nvPr>
        </p:nvSpPr>
        <p:spPr/>
        <p:txBody>
          <a:bodyPr/>
          <a:lstStyle/>
          <a:p>
            <a:fld id="{0E65E6AE-9316-4224-BD7D-1D6178264929}" type="slidenum">
              <a:rPr lang="en-US" smtClean="0"/>
              <a:t>9</a:t>
            </a:fld>
            <a:endParaRPr lang="en-US" dirty="0"/>
          </a:p>
        </p:txBody>
      </p:sp>
    </p:spTree>
    <p:extLst>
      <p:ext uri="{BB962C8B-B14F-4D97-AF65-F5344CB8AC3E}">
        <p14:creationId xmlns:p14="http://schemas.microsoft.com/office/powerpoint/2010/main" val="723918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T-test</a:t>
            </a:r>
          </a:p>
          <a:p>
            <a:r>
              <a:rPr lang="en-US" dirty="0"/>
              <a:t>H0: No difference in watching time</a:t>
            </a:r>
            <a:br>
              <a:rPr lang="en-US" dirty="0"/>
            </a:br>
            <a:r>
              <a:rPr lang="en-US" dirty="0"/>
              <a:t>HA: Difference exist in watch time</a:t>
            </a:r>
          </a:p>
          <a:p>
            <a:pPr latinLnBrk="1"/>
            <a:r>
              <a:rPr lang="en-US" sz="1200" b="0" i="0" kern="1200" dirty="0">
                <a:solidFill>
                  <a:schemeClr val="tx1"/>
                </a:solidFill>
                <a:effectLst/>
                <a:latin typeface="+mn-lt"/>
                <a:ea typeface="+mn-ea"/>
                <a:cs typeface="+mn-cs"/>
              </a:rPr>
              <a:t>T-stat: -1.2778281613255003</a:t>
            </a:r>
          </a:p>
          <a:p>
            <a:pPr latinLnBrk="1"/>
            <a:r>
              <a:rPr lang="en-US" sz="1200" b="0" i="0" kern="1200" dirty="0">
                <a:solidFill>
                  <a:schemeClr val="tx1"/>
                </a:solidFill>
                <a:effectLst/>
                <a:latin typeface="+mn-lt"/>
                <a:ea typeface="+mn-ea"/>
                <a:cs typeface="+mn-cs"/>
              </a:rPr>
              <a:t>P-value: 0.2013199106136922</a:t>
            </a:r>
          </a:p>
          <a:p>
            <a:r>
              <a:rPr lang="en-US" dirty="0"/>
              <a:t>Alpha=5%</a:t>
            </a:r>
          </a:p>
          <a:p>
            <a:pPr latinLnBrk="1"/>
            <a:r>
              <a:rPr lang="en-US" dirty="0"/>
              <a:t>Output: </a:t>
            </a:r>
            <a:r>
              <a:rPr lang="en-US" sz="1200" b="0" i="0" kern="1200" dirty="0">
                <a:solidFill>
                  <a:schemeClr val="tx1"/>
                </a:solidFill>
                <a:effectLst/>
                <a:latin typeface="+mn-lt"/>
                <a:ea typeface="+mn-ea"/>
                <a:cs typeface="+mn-cs"/>
              </a:rPr>
              <a:t>No significant difference Fail to reject H0</a:t>
            </a:r>
          </a:p>
          <a:p>
            <a:pPr latinLnBrk="1"/>
            <a:endParaRPr lang="en-US" sz="1200" b="0" i="0" kern="1200" dirty="0">
              <a:solidFill>
                <a:schemeClr val="tx1"/>
              </a:solidFill>
              <a:effectLst/>
              <a:latin typeface="+mn-lt"/>
              <a:ea typeface="+mn-ea"/>
              <a:cs typeface="+mn-cs"/>
            </a:endParaRPr>
          </a:p>
          <a:p>
            <a:br>
              <a:rPr lang="en-US" dirty="0"/>
            </a:br>
            <a:r>
              <a:rPr lang="en-US" dirty="0"/>
              <a:t> </a:t>
            </a:r>
          </a:p>
        </p:txBody>
      </p:sp>
      <p:sp>
        <p:nvSpPr>
          <p:cNvPr id="4" name="Slide Number Placeholder 3"/>
          <p:cNvSpPr>
            <a:spLocks noGrp="1"/>
          </p:cNvSpPr>
          <p:nvPr>
            <p:ph type="sldNum" sz="quarter" idx="5"/>
          </p:nvPr>
        </p:nvSpPr>
        <p:spPr/>
        <p:txBody>
          <a:bodyPr/>
          <a:lstStyle/>
          <a:p>
            <a:fld id="{0E65E6AE-9316-4224-BD7D-1D6178264929}" type="slidenum">
              <a:rPr lang="en-US" smtClean="0"/>
              <a:t>13</a:t>
            </a:fld>
            <a:endParaRPr lang="en-US" dirty="0"/>
          </a:p>
        </p:txBody>
      </p:sp>
    </p:spTree>
    <p:extLst>
      <p:ext uri="{BB962C8B-B14F-4D97-AF65-F5344CB8AC3E}">
        <p14:creationId xmlns:p14="http://schemas.microsoft.com/office/powerpoint/2010/main" val="2021495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latinLnBrk="1"/>
            <a:r>
              <a:rPr lang="en-US" sz="1200" b="1" i="0" kern="1200" dirty="0">
                <a:solidFill>
                  <a:schemeClr val="tx1"/>
                </a:solidFill>
                <a:effectLst/>
                <a:latin typeface="+mn-lt"/>
                <a:ea typeface="+mn-ea"/>
                <a:cs typeface="+mn-cs"/>
              </a:rPr>
              <a:t>Chi-square test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Subscription Type vs Churn Flag</a:t>
            </a:r>
          </a:p>
          <a:p>
            <a:pPr latinLnBrk="1"/>
            <a:r>
              <a:rPr lang="en-US" sz="1200" b="0" i="0" kern="1200" dirty="0">
                <a:solidFill>
                  <a:schemeClr val="tx1"/>
                </a:solidFill>
                <a:effectLst/>
                <a:latin typeface="+mn-lt"/>
                <a:ea typeface="+mn-ea"/>
                <a:cs typeface="+mn-cs"/>
              </a:rPr>
              <a:t>Chi-square: 5516.863190609802</a:t>
            </a:r>
          </a:p>
          <a:p>
            <a:pPr latinLnBrk="1"/>
            <a:r>
              <a:rPr lang="en-US" sz="1200" b="0" i="0" kern="1200" dirty="0">
                <a:solidFill>
                  <a:schemeClr val="tx1"/>
                </a:solidFill>
                <a:effectLst/>
                <a:latin typeface="+mn-lt"/>
                <a:ea typeface="+mn-ea"/>
                <a:cs typeface="+mn-cs"/>
              </a:rPr>
              <a:t>P-value: 0.0</a:t>
            </a:r>
          </a:p>
          <a:p>
            <a:pPr latinLnBrk="1"/>
            <a:r>
              <a:rPr lang="en-US" sz="1200" b="0" i="0" kern="1200" dirty="0">
                <a:solidFill>
                  <a:schemeClr val="tx1"/>
                </a:solidFill>
                <a:effectLst/>
                <a:latin typeface="+mn-lt"/>
                <a:ea typeface="+mn-ea"/>
                <a:cs typeface="+mn-cs"/>
              </a:rPr>
              <a:t>Alpha=5%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Output: significant relation between subscription type and churn flag which means they affect each other.</a:t>
            </a:r>
          </a:p>
          <a:p>
            <a:endParaRPr lang="en-US" dirty="0"/>
          </a:p>
        </p:txBody>
      </p:sp>
      <p:sp>
        <p:nvSpPr>
          <p:cNvPr id="4" name="Slide Number Placeholder 3"/>
          <p:cNvSpPr>
            <a:spLocks noGrp="1"/>
          </p:cNvSpPr>
          <p:nvPr>
            <p:ph type="sldNum" sz="quarter" idx="5"/>
          </p:nvPr>
        </p:nvSpPr>
        <p:spPr/>
        <p:txBody>
          <a:bodyPr/>
          <a:lstStyle/>
          <a:p>
            <a:fld id="{0E65E6AE-9316-4224-BD7D-1D6178264929}" type="slidenum">
              <a:rPr lang="en-US" smtClean="0"/>
              <a:t>14</a:t>
            </a:fld>
            <a:endParaRPr lang="en-US" dirty="0"/>
          </a:p>
        </p:txBody>
      </p:sp>
    </p:spTree>
    <p:extLst>
      <p:ext uri="{BB962C8B-B14F-4D97-AF65-F5344CB8AC3E}">
        <p14:creationId xmlns:p14="http://schemas.microsoft.com/office/powerpoint/2010/main" val="360289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60D763B-6DEB-4A1E-A050-B7EAD531AD5F}" type="datetime1">
              <a:rPr lang="en-US" smtClean="0"/>
              <a:t>5/18/2026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345633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2A7BB3-01BA-4A67-ADC5-78E295C6D86F}"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1016518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AEACAC-3E46-4255-AC50-EB963826FE8C}"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2152523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51609B-C618-4C22-8AB0-227E1FD016E5}"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3294198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83917C-9267-4FEB-BF84-2F85CA9A0AE9}" type="datetime1">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972616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EA3700-6F08-4C9A-9E35-4773D934771B}" type="datetime1">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2254838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68E44E-6D42-48E9-9788-B6D20DD4F6D2}" type="datetime1">
              <a:rPr lang="en-US" smtClean="0"/>
              <a:t>5/18/2026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2345958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FA613A-5658-400A-A445-C34E992AAFE1}"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4293693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C21E53-9A96-48FC-A0DC-95EB0629999B}"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151453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2917F5-43F7-458E-AB37-1E8E99ED95A1}"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1529461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244A5E-2115-4879-8CC9-63C92D67F0D9}"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596837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6172A4-4FA1-404D-8204-445F0A238E87}"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5AD61A-4527-44E7-8BC9-F936DAF23490}"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61070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EE531D-19F2-4654-BB9C-7CB933985D4C}"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3302914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430C62-A779-421D-800C-F0F3B1525106}" type="datetime1">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3680617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F406C37-E52C-44C7-ADFD-E89003323380}" type="datetime1">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1436643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D4497A-B655-44C3-B29F-CDBA1B411F23}"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750158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559D01-F996-434F-8B07-2E71975F82B3}"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5AD61A-4527-44E7-8BC9-F936DAF23490}" type="slidenum">
              <a:rPr lang="en-US" smtClean="0"/>
              <a:t>‹#›</a:t>
            </a:fld>
            <a:endParaRPr lang="en-US" dirty="0"/>
          </a:p>
        </p:txBody>
      </p:sp>
    </p:spTree>
    <p:extLst>
      <p:ext uri="{BB962C8B-B14F-4D97-AF65-F5344CB8AC3E}">
        <p14:creationId xmlns:p14="http://schemas.microsoft.com/office/powerpoint/2010/main" val="3780035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dirty="0"/>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30742B7-FCD9-4868-A5AC-6BDBA84E9652}" type="datetime1">
              <a:rPr lang="en-US" smtClean="0"/>
              <a:t>5/18/2026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D5AD61A-4527-44E7-8BC9-F936DAF23490}" type="slidenum">
              <a:rPr lang="en-US" smtClean="0"/>
              <a:t>‹#›</a:t>
            </a:fld>
            <a:endParaRPr lang="en-US" dirty="0"/>
          </a:p>
        </p:txBody>
      </p:sp>
    </p:spTree>
    <p:extLst>
      <p:ext uri="{BB962C8B-B14F-4D97-AF65-F5344CB8AC3E}">
        <p14:creationId xmlns:p14="http://schemas.microsoft.com/office/powerpoint/2010/main" val="34674030"/>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78B06-6E01-C4E1-A8AF-8E6B3ED18C88}"/>
              </a:ext>
            </a:extLst>
          </p:cNvPr>
          <p:cNvSpPr>
            <a:spLocks noGrp="1"/>
          </p:cNvSpPr>
          <p:nvPr>
            <p:ph type="ctrTitle"/>
          </p:nvPr>
        </p:nvSpPr>
        <p:spPr>
          <a:xfrm>
            <a:off x="654524" y="261508"/>
            <a:ext cx="11144187" cy="1936001"/>
          </a:xfrm>
        </p:spPr>
        <p:txBody>
          <a:bodyPr>
            <a:normAutofit/>
          </a:bodyPr>
          <a:lstStyle/>
          <a:p>
            <a:pPr algn="just"/>
            <a:r>
              <a:rPr lang="en-US" sz="6000" b="1" dirty="0"/>
              <a:t>OTT Platform User Analytics</a:t>
            </a:r>
          </a:p>
        </p:txBody>
      </p:sp>
      <p:sp>
        <p:nvSpPr>
          <p:cNvPr id="3" name="Subtitle 2">
            <a:extLst>
              <a:ext uri="{FF2B5EF4-FFF2-40B4-BE49-F238E27FC236}">
                <a16:creationId xmlns:a16="http://schemas.microsoft.com/office/drawing/2014/main" id="{B77EE083-3A95-3790-3ABF-1A6268FDAB3A}"/>
              </a:ext>
            </a:extLst>
          </p:cNvPr>
          <p:cNvSpPr>
            <a:spLocks noGrp="1"/>
          </p:cNvSpPr>
          <p:nvPr>
            <p:ph type="subTitle" idx="1"/>
          </p:nvPr>
        </p:nvSpPr>
        <p:spPr>
          <a:xfrm>
            <a:off x="1718441" y="2858728"/>
            <a:ext cx="8765628" cy="3192072"/>
          </a:xfrm>
        </p:spPr>
        <p:txBody>
          <a:bodyPr>
            <a:normAutofit lnSpcReduction="10000"/>
          </a:bodyPr>
          <a:lstStyle/>
          <a:p>
            <a:pPr algn="l"/>
            <a:r>
              <a:rPr lang="en-US" sz="2400" dirty="0">
                <a:solidFill>
                  <a:schemeClr val="tx1"/>
                </a:solidFill>
                <a:latin typeface="Arial" panose="020B0604020202020204" pitchFamily="34" charset="0"/>
                <a:cs typeface="Arial" panose="020B0604020202020204" pitchFamily="34" charset="0"/>
              </a:rPr>
              <a:t>Team Member:</a:t>
            </a:r>
          </a:p>
          <a:p>
            <a:pPr algn="l"/>
            <a:r>
              <a:rPr lang="en-US" sz="2400" dirty="0">
                <a:solidFill>
                  <a:schemeClr val="tx1"/>
                </a:solidFill>
                <a:latin typeface="Arial" panose="020B0604020202020204" pitchFamily="34" charset="0"/>
                <a:cs typeface="Arial" panose="020B0604020202020204" pitchFamily="34" charset="0"/>
              </a:rPr>
              <a:t>Lakshya Bhatia</a:t>
            </a:r>
          </a:p>
          <a:p>
            <a:pPr algn="l"/>
            <a:r>
              <a:rPr lang="en-US" sz="2400" dirty="0">
                <a:solidFill>
                  <a:schemeClr val="tx1"/>
                </a:solidFill>
                <a:latin typeface="Arial" panose="020B0604020202020204" pitchFamily="34" charset="0"/>
                <a:cs typeface="Arial" panose="020B0604020202020204" pitchFamily="34" charset="0"/>
              </a:rPr>
              <a:t>Akshaya</a:t>
            </a:r>
          </a:p>
          <a:p>
            <a:pPr algn="l"/>
            <a:r>
              <a:rPr lang="en-US" sz="2400" dirty="0">
                <a:solidFill>
                  <a:schemeClr val="tx1"/>
                </a:solidFill>
                <a:latin typeface="Arial" panose="020B0604020202020204" pitchFamily="34" charset="0"/>
                <a:cs typeface="Arial" panose="020B0604020202020204" pitchFamily="34" charset="0"/>
              </a:rPr>
              <a:t>Topic no: 5</a:t>
            </a:r>
          </a:p>
          <a:p>
            <a:pPr algn="l"/>
            <a:r>
              <a:rPr lang="en-US" sz="2400" dirty="0">
                <a:solidFill>
                  <a:schemeClr val="tx1"/>
                </a:solidFill>
                <a:latin typeface="Arial" panose="020B0604020202020204" pitchFamily="34" charset="0"/>
                <a:cs typeface="Arial" panose="020B0604020202020204" pitchFamily="34" charset="0"/>
              </a:rPr>
              <a:t>Batch No: DA634S63</a:t>
            </a:r>
          </a:p>
          <a:p>
            <a:pPr algn="l"/>
            <a:r>
              <a:rPr lang="en-US" sz="2400" dirty="0">
                <a:solidFill>
                  <a:schemeClr val="tx1"/>
                </a:solidFill>
                <a:latin typeface="Arial" panose="020B0604020202020204" pitchFamily="34" charset="0"/>
                <a:cs typeface="Arial" panose="020B0604020202020204" pitchFamily="34" charset="0"/>
              </a:rPr>
              <a:t>Project guide: komilla Bhatia</a:t>
            </a:r>
          </a:p>
          <a:p>
            <a:pPr algn="l"/>
            <a:endParaRPr lang="en-US" sz="240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06B0DC2-3F1D-15A6-2D68-61C70B5D2433}"/>
              </a:ext>
            </a:extLst>
          </p:cNvPr>
          <p:cNvSpPr>
            <a:spLocks noGrp="1"/>
          </p:cNvSpPr>
          <p:nvPr>
            <p:ph type="sldNum" sz="quarter" idx="12"/>
          </p:nvPr>
        </p:nvSpPr>
        <p:spPr/>
        <p:txBody>
          <a:bodyPr/>
          <a:lstStyle/>
          <a:p>
            <a:fld id="{5D5AD61A-4527-44E7-8BC9-F936DAF23490}" type="slidenum">
              <a:rPr lang="en-US" smtClean="0"/>
              <a:t>1</a:t>
            </a:fld>
            <a:endParaRPr lang="en-US" dirty="0"/>
          </a:p>
        </p:txBody>
      </p:sp>
    </p:spTree>
    <p:extLst>
      <p:ext uri="{BB962C8B-B14F-4D97-AF65-F5344CB8AC3E}">
        <p14:creationId xmlns:p14="http://schemas.microsoft.com/office/powerpoint/2010/main" val="4211325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94349-A81D-E334-D936-D81CCC7C4BBA}"/>
              </a:ext>
            </a:extLst>
          </p:cNvPr>
          <p:cNvSpPr>
            <a:spLocks noGrp="1"/>
          </p:cNvSpPr>
          <p:nvPr>
            <p:ph type="title"/>
          </p:nvPr>
        </p:nvSpPr>
        <p:spPr>
          <a:xfrm>
            <a:off x="186519" y="160717"/>
            <a:ext cx="11818961" cy="897767"/>
          </a:xfrm>
        </p:spPr>
        <p:txBody>
          <a:bodyPr/>
          <a:lstStyle/>
          <a:p>
            <a:pPr algn="ctr"/>
            <a:r>
              <a:rPr lang="en-US" b="1" dirty="0">
                <a:latin typeface="Times New Roman" panose="02020603050405020304" pitchFamily="18" charset="0"/>
                <a:cs typeface="Times New Roman" panose="02020603050405020304" pitchFamily="18" charset="0"/>
              </a:rPr>
              <a:t>Business problem and target audience</a:t>
            </a:r>
          </a:p>
        </p:txBody>
      </p:sp>
      <p:sp>
        <p:nvSpPr>
          <p:cNvPr id="3" name="Content Placeholder 2">
            <a:extLst>
              <a:ext uri="{FF2B5EF4-FFF2-40B4-BE49-F238E27FC236}">
                <a16:creationId xmlns:a16="http://schemas.microsoft.com/office/drawing/2014/main" id="{947B3F03-DFF7-B814-B373-844F0708D64B}"/>
              </a:ext>
            </a:extLst>
          </p:cNvPr>
          <p:cNvSpPr>
            <a:spLocks noGrp="1"/>
          </p:cNvSpPr>
          <p:nvPr>
            <p:ph idx="1"/>
          </p:nvPr>
        </p:nvSpPr>
        <p:spPr>
          <a:xfrm>
            <a:off x="368710" y="1297858"/>
            <a:ext cx="11559434" cy="897767"/>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Business Problem: </a:t>
            </a:r>
            <a:r>
              <a:rPr lang="en-US" sz="1800" dirty="0">
                <a:latin typeface="Times New Roman" panose="02020603050405020304" pitchFamily="18" charset="0"/>
                <a:cs typeface="Times New Roman" panose="02020603050405020304" pitchFamily="18" charset="0"/>
              </a:rPr>
              <a:t>OTT platforms have a lot of user data, but it is difficult to understand what increases watch time and engagement. Many users use free subscription which impacts profitability. </a:t>
            </a:r>
          </a:p>
          <a:p>
            <a:pPr marL="0" indent="0">
              <a:buNone/>
            </a:pP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0DD1577-5287-06FF-8AE6-74CA2C6C1657}"/>
              </a:ext>
            </a:extLst>
          </p:cNvPr>
          <p:cNvGraphicFramePr>
            <a:graphicFrameLocks noGrp="1"/>
          </p:cNvGraphicFramePr>
          <p:nvPr>
            <p:extLst>
              <p:ext uri="{D42A27DB-BD31-4B8C-83A1-F6EECF244321}">
                <p14:modId xmlns:p14="http://schemas.microsoft.com/office/powerpoint/2010/main" val="3426099006"/>
              </p:ext>
            </p:extLst>
          </p:nvPr>
        </p:nvGraphicFramePr>
        <p:xfrm>
          <a:off x="109182" y="2195625"/>
          <a:ext cx="11818961" cy="4136936"/>
        </p:xfrm>
        <a:graphic>
          <a:graphicData uri="http://schemas.openxmlformats.org/drawingml/2006/table">
            <a:tbl>
              <a:tblPr firstRow="1" bandRow="1">
                <a:tableStyleId>{5940675A-B579-460E-94D1-54222C63F5DA}</a:tableStyleId>
              </a:tblPr>
              <a:tblGrid>
                <a:gridCol w="8280839">
                  <a:extLst>
                    <a:ext uri="{9D8B030D-6E8A-4147-A177-3AD203B41FA5}">
                      <a16:colId xmlns:a16="http://schemas.microsoft.com/office/drawing/2014/main" val="2172731944"/>
                    </a:ext>
                  </a:extLst>
                </a:gridCol>
                <a:gridCol w="3538122">
                  <a:extLst>
                    <a:ext uri="{9D8B030D-6E8A-4147-A177-3AD203B41FA5}">
                      <a16:colId xmlns:a16="http://schemas.microsoft.com/office/drawing/2014/main" val="71645243"/>
                    </a:ext>
                  </a:extLst>
                </a:gridCol>
              </a:tblGrid>
              <a:tr h="4136936">
                <a:tc>
                  <a:txBody>
                    <a:bodyPr/>
                    <a:lstStyle/>
                    <a:p>
                      <a:pPr marL="0" indent="0">
                        <a:lnSpc>
                          <a:spcPct val="150000"/>
                        </a:lnSpc>
                        <a:buNone/>
                      </a:pPr>
                      <a:r>
                        <a:rPr lang="en-US" sz="1800" b="1" u="sng" kern="1200" dirty="0">
                          <a:solidFill>
                            <a:schemeClr val="tx1"/>
                          </a:solidFill>
                          <a:latin typeface="+mn-lt"/>
                          <a:ea typeface="+mn-ea"/>
                          <a:cs typeface="+mn-cs"/>
                        </a:rPr>
                        <a:t>Objectives:</a:t>
                      </a:r>
                    </a:p>
                    <a:p>
                      <a:pPr marL="342900" indent="-342900">
                        <a:lnSpc>
                          <a:spcPct val="150000"/>
                        </a:lnSpc>
                        <a:buFont typeface="Wingdings" panose="05000000000000000000" pitchFamily="2" charset="2"/>
                        <a:buChar char="q"/>
                      </a:pPr>
                      <a:r>
                        <a:rPr lang="en-US" sz="1800" dirty="0"/>
                        <a:t>Identify lowest and highest watch time and suggest strategy to improve</a:t>
                      </a:r>
                    </a:p>
                    <a:p>
                      <a:pPr marL="342900" indent="-342900">
                        <a:lnSpc>
                          <a:spcPct val="150000"/>
                        </a:lnSpc>
                        <a:buFont typeface="Wingdings" panose="05000000000000000000" pitchFamily="2" charset="2"/>
                        <a:buChar char="q"/>
                      </a:pPr>
                      <a:r>
                        <a:rPr lang="en-US" sz="1800" dirty="0"/>
                        <a:t>How to convert "Subscription Type": from basic to Premium</a:t>
                      </a:r>
                    </a:p>
                    <a:p>
                      <a:pPr marL="342900" indent="-342900">
                        <a:lnSpc>
                          <a:spcPct val="150000"/>
                        </a:lnSpc>
                        <a:buFont typeface="Wingdings" panose="05000000000000000000" pitchFamily="2" charset="2"/>
                        <a:buChar char="q"/>
                      </a:pPr>
                      <a:r>
                        <a:rPr lang="en-US" sz="1800" dirty="0"/>
                        <a:t>Bucket users to understand who are consider as high risk of quitting the platform. Identify:</a:t>
                      </a:r>
                    </a:p>
                    <a:p>
                      <a:pPr marL="800100" lvl="1" indent="-342900">
                        <a:lnSpc>
                          <a:spcPct val="150000"/>
                        </a:lnSpc>
                        <a:buFont typeface="Wingdings" panose="05000000000000000000" pitchFamily="2" charset="2"/>
                        <a:buChar char="q"/>
                      </a:pPr>
                      <a:r>
                        <a:rPr lang="en-US" sz="1800" dirty="0"/>
                        <a:t>Prospective users</a:t>
                      </a:r>
                    </a:p>
                    <a:p>
                      <a:pPr marL="800100" lvl="1" indent="-342900">
                        <a:lnSpc>
                          <a:spcPct val="150000"/>
                        </a:lnSpc>
                        <a:buFont typeface="Wingdings" panose="05000000000000000000" pitchFamily="2" charset="2"/>
                        <a:buChar char="q"/>
                      </a:pPr>
                      <a:r>
                        <a:rPr lang="en-US" sz="1800" dirty="0"/>
                        <a:t>At Risk users</a:t>
                      </a:r>
                    </a:p>
                    <a:p>
                      <a:pPr marL="800100" lvl="1" indent="-342900">
                        <a:lnSpc>
                          <a:spcPct val="150000"/>
                        </a:lnSpc>
                        <a:buFont typeface="Wingdings" panose="05000000000000000000" pitchFamily="2" charset="2"/>
                        <a:buChar char="q"/>
                      </a:pPr>
                      <a:r>
                        <a:rPr lang="en-US" sz="1800" dirty="0"/>
                        <a:t>High Engagers</a:t>
                      </a:r>
                    </a:p>
                    <a:p>
                      <a:pPr marL="342900" indent="-342900">
                        <a:lnSpc>
                          <a:spcPct val="150000"/>
                        </a:lnSpc>
                        <a:buFont typeface="Wingdings" panose="05000000000000000000" pitchFamily="2" charset="2"/>
                        <a:buChar char="q"/>
                      </a:pPr>
                      <a:endParaRPr lang="en-US" sz="1800" dirty="0"/>
                    </a:p>
                  </a:txBody>
                  <a:tcPr/>
                </a:tc>
                <a:tc>
                  <a:txBody>
                    <a:bodyPr/>
                    <a:lstStyle/>
                    <a:p>
                      <a:pPr marL="0" indent="0">
                        <a:lnSpc>
                          <a:spcPct val="150000"/>
                        </a:lnSpc>
                        <a:buNone/>
                      </a:pPr>
                      <a:r>
                        <a:rPr lang="en-US" sz="1800" b="1" u="sng" dirty="0"/>
                        <a:t>Target Audience:</a:t>
                      </a:r>
                    </a:p>
                    <a:p>
                      <a:pPr marL="342900" indent="-342900">
                        <a:lnSpc>
                          <a:spcPct val="150000"/>
                        </a:lnSpc>
                        <a:buFont typeface="Wingdings" panose="05000000000000000000" pitchFamily="2" charset="2"/>
                        <a:buChar char="q"/>
                      </a:pPr>
                      <a:r>
                        <a:rPr lang="en-US" sz="1800" dirty="0"/>
                        <a:t>Senior Management of OTT platform</a:t>
                      </a:r>
                    </a:p>
                    <a:p>
                      <a:pPr marL="342900" indent="-342900">
                        <a:lnSpc>
                          <a:spcPct val="150000"/>
                        </a:lnSpc>
                        <a:buFont typeface="Wingdings" panose="05000000000000000000" pitchFamily="2" charset="2"/>
                        <a:buChar char="q"/>
                      </a:pPr>
                      <a:r>
                        <a:rPr lang="en-US" sz="1800" dirty="0"/>
                        <a:t>Investment team of OTT platform</a:t>
                      </a:r>
                    </a:p>
                    <a:p>
                      <a:pPr marL="342900" indent="-342900">
                        <a:lnSpc>
                          <a:spcPct val="150000"/>
                        </a:lnSpc>
                        <a:buFont typeface="Wingdings" panose="05000000000000000000" pitchFamily="2" charset="2"/>
                        <a:buChar char="q"/>
                      </a:pPr>
                      <a:r>
                        <a:rPr lang="en-US" sz="1800" dirty="0"/>
                        <a:t>Marketing team of OTT platform</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22222522"/>
                  </a:ext>
                </a:extLst>
              </a:tr>
            </a:tbl>
          </a:graphicData>
        </a:graphic>
      </p:graphicFrame>
      <p:sp>
        <p:nvSpPr>
          <p:cNvPr id="5" name="Slide Number Placeholder 4">
            <a:extLst>
              <a:ext uri="{FF2B5EF4-FFF2-40B4-BE49-F238E27FC236}">
                <a16:creationId xmlns:a16="http://schemas.microsoft.com/office/drawing/2014/main" id="{73DEFBA9-244F-28A0-D0B1-50A267B42038}"/>
              </a:ext>
            </a:extLst>
          </p:cNvPr>
          <p:cNvSpPr>
            <a:spLocks noGrp="1"/>
          </p:cNvSpPr>
          <p:nvPr>
            <p:ph type="sldNum" sz="quarter" idx="12"/>
          </p:nvPr>
        </p:nvSpPr>
        <p:spPr/>
        <p:txBody>
          <a:bodyPr/>
          <a:lstStyle/>
          <a:p>
            <a:fld id="{5D5AD61A-4527-44E7-8BC9-F936DAF23490}" type="slidenum">
              <a:rPr lang="en-US" smtClean="0"/>
              <a:t>2</a:t>
            </a:fld>
            <a:endParaRPr lang="en-US" dirty="0"/>
          </a:p>
        </p:txBody>
      </p:sp>
    </p:spTree>
    <p:extLst>
      <p:ext uri="{BB962C8B-B14F-4D97-AF65-F5344CB8AC3E}">
        <p14:creationId xmlns:p14="http://schemas.microsoft.com/office/powerpoint/2010/main" val="2125619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5F33-9945-3DFA-1D0F-C5240636F9C9}"/>
              </a:ext>
            </a:extLst>
          </p:cNvPr>
          <p:cNvSpPr>
            <a:spLocks noGrp="1"/>
          </p:cNvSpPr>
          <p:nvPr>
            <p:ph type="title"/>
          </p:nvPr>
        </p:nvSpPr>
        <p:spPr>
          <a:xfrm>
            <a:off x="1141412" y="169115"/>
            <a:ext cx="9905998" cy="1151288"/>
          </a:xfrm>
        </p:spPr>
        <p:txBody>
          <a:bodyPr>
            <a:normAutofit/>
          </a:bodyPr>
          <a:lstStyle/>
          <a:p>
            <a:pPr algn="ctr"/>
            <a:r>
              <a:rPr lang="en-US" sz="5400" dirty="0">
                <a:latin typeface="Times New Roman" panose="02020603050405020304" pitchFamily="18" charset="0"/>
                <a:cs typeface="Times New Roman" panose="02020603050405020304" pitchFamily="18" charset="0"/>
              </a:rPr>
              <a:t>Overview of dataset</a:t>
            </a:r>
          </a:p>
        </p:txBody>
      </p:sp>
      <p:sp>
        <p:nvSpPr>
          <p:cNvPr id="4" name="Content Placeholder 3">
            <a:extLst>
              <a:ext uri="{FF2B5EF4-FFF2-40B4-BE49-F238E27FC236}">
                <a16:creationId xmlns:a16="http://schemas.microsoft.com/office/drawing/2014/main" id="{C71CF2AF-D7C3-AD76-ADF0-0E81A0ECF6D8}"/>
              </a:ext>
            </a:extLst>
          </p:cNvPr>
          <p:cNvSpPr>
            <a:spLocks noGrp="1"/>
          </p:cNvSpPr>
          <p:nvPr>
            <p:ph idx="1"/>
          </p:nvPr>
        </p:nvSpPr>
        <p:spPr>
          <a:xfrm>
            <a:off x="250723" y="1540646"/>
            <a:ext cx="11710219" cy="4927996"/>
          </a:xfrm>
        </p:spPr>
        <p:txBody>
          <a:bodyPr>
            <a:normAutofit/>
          </a:bodyPr>
          <a:lstStyle/>
          <a:p>
            <a:r>
              <a:rPr lang="en-US" sz="2200" dirty="0">
                <a:latin typeface="Times New Roman" panose="02020603050405020304" pitchFamily="18" charset="0"/>
                <a:cs typeface="Times New Roman" panose="02020603050405020304" pitchFamily="18" charset="0"/>
              </a:rPr>
              <a:t>The dataset is based on an OTT streaming platform and shows how users interact with content.</a:t>
            </a:r>
          </a:p>
          <a:p>
            <a:r>
              <a:rPr lang="en-US" sz="2200" dirty="0">
                <a:latin typeface="Times New Roman" panose="02020603050405020304" pitchFamily="18" charset="0"/>
                <a:cs typeface="Times New Roman" panose="02020603050405020304" pitchFamily="18" charset="0"/>
              </a:rPr>
              <a:t>There are around 2000 users </a:t>
            </a:r>
          </a:p>
          <a:p>
            <a:pPr marL="0" indent="0">
              <a:buNone/>
            </a:pPr>
            <a:r>
              <a:rPr lang="en-US" sz="2200" dirty="0">
                <a:latin typeface="Times New Roman" panose="02020603050405020304" pitchFamily="18" charset="0"/>
                <a:cs typeface="Times New Roman" panose="02020603050405020304" pitchFamily="18" charset="0"/>
              </a:rPr>
              <a:t>and 30K+ viewing sessions in </a:t>
            </a:r>
          </a:p>
          <a:p>
            <a:pPr marL="0" indent="0">
              <a:buNone/>
            </a:pPr>
            <a:r>
              <a:rPr lang="en-US" sz="2200" dirty="0">
                <a:latin typeface="Times New Roman" panose="02020603050405020304" pitchFamily="18" charset="0"/>
                <a:cs typeface="Times New Roman" panose="02020603050405020304" pitchFamily="18" charset="0"/>
              </a:rPr>
              <a:t>total .We have 5 tables :</a:t>
            </a:r>
          </a:p>
          <a:p>
            <a:pPr lvl="1"/>
            <a:r>
              <a:rPr lang="en-US" sz="2200" dirty="0">
                <a:latin typeface="Times New Roman" panose="02020603050405020304" pitchFamily="18" charset="0"/>
                <a:cs typeface="Times New Roman" panose="02020603050405020304" pitchFamily="18" charset="0"/>
              </a:rPr>
              <a:t>User Profile  </a:t>
            </a:r>
          </a:p>
          <a:p>
            <a:pPr lvl="1"/>
            <a:r>
              <a:rPr lang="en-US" sz="2200" dirty="0">
                <a:latin typeface="Times New Roman" panose="02020603050405020304" pitchFamily="18" charset="0"/>
                <a:cs typeface="Times New Roman" panose="02020603050405020304" pitchFamily="18" charset="0"/>
              </a:rPr>
              <a:t>Viewing Activity </a:t>
            </a:r>
          </a:p>
          <a:p>
            <a:pPr lvl="1"/>
            <a:r>
              <a:rPr lang="en-US" sz="2200" dirty="0">
                <a:latin typeface="Times New Roman" panose="02020603050405020304" pitchFamily="18" charset="0"/>
                <a:cs typeface="Times New Roman" panose="02020603050405020304" pitchFamily="18" charset="0"/>
              </a:rPr>
              <a:t>Ratings &amp; Feedback </a:t>
            </a:r>
          </a:p>
          <a:p>
            <a:pPr lvl="1"/>
            <a:r>
              <a:rPr lang="en-US" sz="2200" dirty="0">
                <a:latin typeface="Times New Roman" panose="02020603050405020304" pitchFamily="18" charset="0"/>
                <a:cs typeface="Times New Roman" panose="02020603050405020304" pitchFamily="18" charset="0"/>
              </a:rPr>
              <a:t>Subscription Data </a:t>
            </a:r>
          </a:p>
          <a:p>
            <a:pPr lvl="1"/>
            <a:r>
              <a:rPr lang="en-US" sz="2200" dirty="0">
                <a:latin typeface="Times New Roman" panose="02020603050405020304" pitchFamily="18" charset="0"/>
                <a:cs typeface="Times New Roman" panose="02020603050405020304" pitchFamily="18" charset="0"/>
              </a:rPr>
              <a:t>Content Library</a:t>
            </a:r>
          </a:p>
        </p:txBody>
      </p:sp>
      <p:pic>
        <p:nvPicPr>
          <p:cNvPr id="5" name="Picture 4">
            <a:extLst>
              <a:ext uri="{FF2B5EF4-FFF2-40B4-BE49-F238E27FC236}">
                <a16:creationId xmlns:a16="http://schemas.microsoft.com/office/drawing/2014/main" id="{7491BD18-5555-E14E-9BAA-061EA4424005}"/>
              </a:ext>
            </a:extLst>
          </p:cNvPr>
          <p:cNvPicPr>
            <a:picLocks noChangeAspect="1"/>
          </p:cNvPicPr>
          <p:nvPr/>
        </p:nvPicPr>
        <p:blipFill>
          <a:blip r:embed="rId2"/>
          <a:stretch>
            <a:fillRect/>
          </a:stretch>
        </p:blipFill>
        <p:spPr>
          <a:xfrm>
            <a:off x="4117254" y="2098255"/>
            <a:ext cx="8077200" cy="4756468"/>
          </a:xfrm>
          <a:prstGeom prst="rect">
            <a:avLst/>
          </a:prstGeom>
        </p:spPr>
      </p:pic>
      <p:sp>
        <p:nvSpPr>
          <p:cNvPr id="3" name="Slide Number Placeholder 2">
            <a:extLst>
              <a:ext uri="{FF2B5EF4-FFF2-40B4-BE49-F238E27FC236}">
                <a16:creationId xmlns:a16="http://schemas.microsoft.com/office/drawing/2014/main" id="{61125BCA-AE09-81D3-45C8-055064013651}"/>
              </a:ext>
            </a:extLst>
          </p:cNvPr>
          <p:cNvSpPr>
            <a:spLocks noGrp="1"/>
          </p:cNvSpPr>
          <p:nvPr>
            <p:ph type="sldNum" sz="quarter" idx="12"/>
          </p:nvPr>
        </p:nvSpPr>
        <p:spPr/>
        <p:txBody>
          <a:bodyPr/>
          <a:lstStyle/>
          <a:p>
            <a:fld id="{5D5AD61A-4527-44E7-8BC9-F936DAF23490}" type="slidenum">
              <a:rPr lang="en-US" smtClean="0"/>
              <a:t>3</a:t>
            </a:fld>
            <a:endParaRPr lang="en-US" dirty="0"/>
          </a:p>
        </p:txBody>
      </p:sp>
    </p:spTree>
    <p:extLst>
      <p:ext uri="{BB962C8B-B14F-4D97-AF65-F5344CB8AC3E}">
        <p14:creationId xmlns:p14="http://schemas.microsoft.com/office/powerpoint/2010/main" val="3052211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AD55B4-B586-2C7C-985D-1C04B130D8A7}"/>
              </a:ext>
            </a:extLst>
          </p:cNvPr>
          <p:cNvPicPr>
            <a:picLocks noChangeAspect="1"/>
          </p:cNvPicPr>
          <p:nvPr/>
        </p:nvPicPr>
        <p:blipFill>
          <a:blip r:embed="rId2"/>
          <a:stretch>
            <a:fillRect/>
          </a:stretch>
        </p:blipFill>
        <p:spPr>
          <a:xfrm>
            <a:off x="0" y="88487"/>
            <a:ext cx="9306232" cy="6386053"/>
          </a:xfrm>
          <a:prstGeom prst="rect">
            <a:avLst/>
          </a:prstGeom>
        </p:spPr>
      </p:pic>
      <p:sp>
        <p:nvSpPr>
          <p:cNvPr id="2" name="Slide Number Placeholder 1">
            <a:extLst>
              <a:ext uri="{FF2B5EF4-FFF2-40B4-BE49-F238E27FC236}">
                <a16:creationId xmlns:a16="http://schemas.microsoft.com/office/drawing/2014/main" id="{77325768-C184-F665-1534-9BF8490254D2}"/>
              </a:ext>
            </a:extLst>
          </p:cNvPr>
          <p:cNvSpPr>
            <a:spLocks noGrp="1"/>
          </p:cNvSpPr>
          <p:nvPr>
            <p:ph type="sldNum" sz="quarter" idx="12"/>
          </p:nvPr>
        </p:nvSpPr>
        <p:spPr/>
        <p:txBody>
          <a:bodyPr/>
          <a:lstStyle/>
          <a:p>
            <a:fld id="{5D5AD61A-4527-44E7-8BC9-F936DAF23490}" type="slidenum">
              <a:rPr lang="en-US" smtClean="0"/>
              <a:t>4</a:t>
            </a:fld>
            <a:endParaRPr lang="en-US" dirty="0"/>
          </a:p>
        </p:txBody>
      </p:sp>
      <p:sp>
        <p:nvSpPr>
          <p:cNvPr id="4" name="Rectangle 3">
            <a:extLst>
              <a:ext uri="{FF2B5EF4-FFF2-40B4-BE49-F238E27FC236}">
                <a16:creationId xmlns:a16="http://schemas.microsoft.com/office/drawing/2014/main" id="{2279305C-7C35-0101-CDCF-8EC7706CF3A6}"/>
              </a:ext>
            </a:extLst>
          </p:cNvPr>
          <p:cNvSpPr/>
          <p:nvPr/>
        </p:nvSpPr>
        <p:spPr>
          <a:xfrm>
            <a:off x="9306232" y="-1"/>
            <a:ext cx="2834640" cy="67400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q"/>
            </a:pPr>
            <a:r>
              <a:rPr lang="en-US" sz="2000" dirty="0">
                <a:solidFill>
                  <a:schemeClr val="tx1"/>
                </a:solidFill>
              </a:rPr>
              <a:t>12K ratings from 2000 users show strong platform activity. </a:t>
            </a:r>
          </a:p>
          <a:p>
            <a:pPr marL="342900" indent="-342900">
              <a:buFont typeface="Wingdings" panose="05000000000000000000" pitchFamily="2" charset="2"/>
              <a:buChar char="q"/>
            </a:pPr>
            <a:r>
              <a:rPr lang="en-US" sz="2000" dirty="0">
                <a:solidFill>
                  <a:schemeClr val="tx1"/>
                </a:solidFill>
              </a:rPr>
              <a:t>Positive feedback (40.3%) indicates good user satisfaction. </a:t>
            </a:r>
          </a:p>
          <a:p>
            <a:pPr marL="342900" indent="-342900">
              <a:buFont typeface="Wingdings" panose="05000000000000000000" pitchFamily="2" charset="2"/>
              <a:buChar char="q"/>
            </a:pPr>
            <a:r>
              <a:rPr lang="en-US" sz="2000" dirty="0">
                <a:solidFill>
                  <a:schemeClr val="tx1"/>
                </a:solidFill>
              </a:rPr>
              <a:t>Free Trial users have the highest watch time (1.86M). </a:t>
            </a:r>
          </a:p>
          <a:p>
            <a:pPr marL="342900" indent="-342900">
              <a:buFont typeface="Wingdings" panose="05000000000000000000" pitchFamily="2" charset="2"/>
              <a:buChar char="q"/>
            </a:pPr>
            <a:r>
              <a:rPr lang="en-US" sz="2000" dirty="0">
                <a:solidFill>
                  <a:schemeClr val="tx1"/>
                </a:solidFill>
              </a:rPr>
              <a:t>Premium users are the most active in giving ratings (4.1K). </a:t>
            </a:r>
          </a:p>
          <a:p>
            <a:pPr marL="342900" indent="-342900">
              <a:buFont typeface="Wingdings" panose="05000000000000000000" pitchFamily="2" charset="2"/>
              <a:buChar char="q"/>
            </a:pPr>
            <a:r>
              <a:rPr lang="en-US" sz="2000" dirty="0">
                <a:solidFill>
                  <a:schemeClr val="tx1"/>
                </a:solidFill>
              </a:rPr>
              <a:t>Main focus: convert engaged Free Trial users to Premium for higher retention and revenue. </a:t>
            </a:r>
          </a:p>
          <a:p>
            <a:pPr marL="342900" indent="-342900" algn="ctr">
              <a:buFont typeface="Wingdings" panose="05000000000000000000" pitchFamily="2" charset="2"/>
              <a:buChar char="q"/>
            </a:pPr>
            <a:endParaRPr lang="en-US" sz="2000" dirty="0">
              <a:solidFill>
                <a:schemeClr val="tx1"/>
              </a:solidFill>
            </a:endParaRPr>
          </a:p>
        </p:txBody>
      </p:sp>
    </p:spTree>
    <p:extLst>
      <p:ext uri="{BB962C8B-B14F-4D97-AF65-F5344CB8AC3E}">
        <p14:creationId xmlns:p14="http://schemas.microsoft.com/office/powerpoint/2010/main" val="2452074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F13-8D17-EF65-D45E-424CDDA72655}"/>
              </a:ext>
            </a:extLst>
          </p:cNvPr>
          <p:cNvSpPr>
            <a:spLocks noGrp="1"/>
          </p:cNvSpPr>
          <p:nvPr>
            <p:ph type="title"/>
          </p:nvPr>
        </p:nvSpPr>
        <p:spPr>
          <a:xfrm>
            <a:off x="766916" y="416912"/>
            <a:ext cx="10955593" cy="994794"/>
          </a:xfrm>
        </p:spPr>
        <p:txBody>
          <a:bodyPr>
            <a:noAutofit/>
          </a:bodyPr>
          <a:lstStyle/>
          <a:p>
            <a:pPr algn="ctr"/>
            <a:r>
              <a:rPr lang="en-US" sz="4400" b="1" dirty="0">
                <a:latin typeface="Times New Roman" panose="02020603050405020304" pitchFamily="18" charset="0"/>
                <a:cs typeface="Times New Roman" panose="02020603050405020304" pitchFamily="18" charset="0"/>
              </a:rPr>
              <a:t>Insight 1: Feedback Distribution</a:t>
            </a:r>
            <a:br>
              <a:rPr lang="en-US" sz="4400" b="1" dirty="0">
                <a:latin typeface="Times New Roman" panose="02020603050405020304" pitchFamily="18" charset="0"/>
                <a:cs typeface="Times New Roman" panose="02020603050405020304" pitchFamily="18" charset="0"/>
              </a:rPr>
            </a:br>
            <a:endParaRPr lang="en-US" sz="4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9E0054D-6D2E-4B9F-038B-87412D6CCE2A}"/>
              </a:ext>
            </a:extLst>
          </p:cNvPr>
          <p:cNvPicPr>
            <a:picLocks noChangeAspect="1"/>
          </p:cNvPicPr>
          <p:nvPr/>
        </p:nvPicPr>
        <p:blipFill>
          <a:blip r:embed="rId2"/>
          <a:srcRect b="5705"/>
          <a:stretch>
            <a:fillRect/>
          </a:stretch>
        </p:blipFill>
        <p:spPr>
          <a:xfrm>
            <a:off x="2515120" y="986305"/>
            <a:ext cx="6830653" cy="3060591"/>
          </a:xfrm>
          <a:prstGeom prst="rect">
            <a:avLst/>
          </a:prstGeom>
        </p:spPr>
      </p:pic>
      <p:graphicFrame>
        <p:nvGraphicFramePr>
          <p:cNvPr id="3" name="Table 2">
            <a:extLst>
              <a:ext uri="{FF2B5EF4-FFF2-40B4-BE49-F238E27FC236}">
                <a16:creationId xmlns:a16="http://schemas.microsoft.com/office/drawing/2014/main" id="{E5B21CAD-074D-9CEA-F704-AED5EE2B08BE}"/>
              </a:ext>
            </a:extLst>
          </p:cNvPr>
          <p:cNvGraphicFramePr>
            <a:graphicFrameLocks noGrp="1"/>
          </p:cNvGraphicFramePr>
          <p:nvPr>
            <p:extLst>
              <p:ext uri="{D42A27DB-BD31-4B8C-83A1-F6EECF244321}">
                <p14:modId xmlns:p14="http://schemas.microsoft.com/office/powerpoint/2010/main" val="4031134399"/>
              </p:ext>
            </p:extLst>
          </p:nvPr>
        </p:nvGraphicFramePr>
        <p:xfrm>
          <a:off x="1083962" y="4256254"/>
          <a:ext cx="10482395" cy="2468880"/>
        </p:xfrm>
        <a:graphic>
          <a:graphicData uri="http://schemas.openxmlformats.org/drawingml/2006/table">
            <a:tbl>
              <a:tblPr firstRow="1" bandRow="1">
                <a:tableStyleId>{5940675A-B579-460E-94D1-54222C63F5DA}</a:tableStyleId>
              </a:tblPr>
              <a:tblGrid>
                <a:gridCol w="5060164">
                  <a:extLst>
                    <a:ext uri="{9D8B030D-6E8A-4147-A177-3AD203B41FA5}">
                      <a16:colId xmlns:a16="http://schemas.microsoft.com/office/drawing/2014/main" val="2172731944"/>
                    </a:ext>
                  </a:extLst>
                </a:gridCol>
                <a:gridCol w="5422231">
                  <a:extLst>
                    <a:ext uri="{9D8B030D-6E8A-4147-A177-3AD203B41FA5}">
                      <a16:colId xmlns:a16="http://schemas.microsoft.com/office/drawing/2014/main" val="71645243"/>
                    </a:ext>
                  </a:extLst>
                </a:gridCol>
              </a:tblGrid>
              <a:tr h="1889865">
                <a:tc>
                  <a:txBody>
                    <a:bodyPr/>
                    <a:lstStyle/>
                    <a:p>
                      <a:pPr algn="ctr"/>
                      <a:r>
                        <a:rPr lang="en-US" sz="2600" b="1" dirty="0">
                          <a:latin typeface="Times New Roman" panose="02020603050405020304" pitchFamily="18" charset="0"/>
                          <a:cs typeface="Times New Roman" panose="02020603050405020304" pitchFamily="18" charset="0"/>
                        </a:rPr>
                        <a:t>Feedback Distribution</a:t>
                      </a:r>
                    </a:p>
                    <a:p>
                      <a:pPr algn="ctr"/>
                      <a:r>
                        <a:rPr lang="en-US" sz="2600" dirty="0">
                          <a:latin typeface="Times New Roman" panose="02020603050405020304" pitchFamily="18" charset="0"/>
                          <a:cs typeface="Times New Roman" panose="02020603050405020304" pitchFamily="18" charset="0"/>
                        </a:rPr>
                        <a:t>Around 40% of users gave positive feedback, but nearly the same share (39%) reported negative experiences, with 20% feeling neutral.</a:t>
                      </a:r>
                    </a:p>
                  </a:txBody>
                  <a:tcPr/>
                </a:tc>
                <a:tc>
                  <a:txBody>
                    <a:bodyPr/>
                    <a:lstStyle/>
                    <a:p>
                      <a:pPr algn="ctr"/>
                      <a:r>
                        <a:rPr lang="en-US" sz="2600" b="1" dirty="0">
                          <a:latin typeface="Times New Roman" panose="02020603050405020304" pitchFamily="18" charset="0"/>
                          <a:cs typeface="Times New Roman" panose="02020603050405020304" pitchFamily="18" charset="0"/>
                        </a:rPr>
                        <a:t>Business Action: </a:t>
                      </a:r>
                    </a:p>
                    <a:p>
                      <a:pPr algn="ctr"/>
                      <a:r>
                        <a:rPr lang="en-US" sz="2600" dirty="0">
                          <a:latin typeface="Times New Roman" panose="02020603050405020304" pitchFamily="18" charset="0"/>
                          <a:cs typeface="Times New Roman" panose="02020603050405020304" pitchFamily="18" charset="0"/>
                        </a:rPr>
                        <a:t>Create a feedback form for suggestions and improve based on user recommendations ,reducing buffering so user may get better experience. </a:t>
                      </a:r>
                    </a:p>
                  </a:txBody>
                  <a:tcPr/>
                </a:tc>
                <a:extLst>
                  <a:ext uri="{0D108BD9-81ED-4DB2-BD59-A6C34878D82A}">
                    <a16:rowId xmlns:a16="http://schemas.microsoft.com/office/drawing/2014/main" val="822222522"/>
                  </a:ext>
                </a:extLst>
              </a:tr>
            </a:tbl>
          </a:graphicData>
        </a:graphic>
      </p:graphicFrame>
      <p:sp>
        <p:nvSpPr>
          <p:cNvPr id="4" name="Slide Number Placeholder 3">
            <a:extLst>
              <a:ext uri="{FF2B5EF4-FFF2-40B4-BE49-F238E27FC236}">
                <a16:creationId xmlns:a16="http://schemas.microsoft.com/office/drawing/2014/main" id="{14F7682F-8D98-8685-2039-A44D2A80AA86}"/>
              </a:ext>
            </a:extLst>
          </p:cNvPr>
          <p:cNvSpPr>
            <a:spLocks noGrp="1"/>
          </p:cNvSpPr>
          <p:nvPr>
            <p:ph type="sldNum" sz="quarter" idx="12"/>
          </p:nvPr>
        </p:nvSpPr>
        <p:spPr/>
        <p:txBody>
          <a:bodyPr/>
          <a:lstStyle/>
          <a:p>
            <a:fld id="{5D5AD61A-4527-44E7-8BC9-F936DAF23490}" type="slidenum">
              <a:rPr lang="en-US" smtClean="0"/>
              <a:t>5</a:t>
            </a:fld>
            <a:endParaRPr lang="en-US" dirty="0"/>
          </a:p>
        </p:txBody>
      </p:sp>
    </p:spTree>
    <p:extLst>
      <p:ext uri="{BB962C8B-B14F-4D97-AF65-F5344CB8AC3E}">
        <p14:creationId xmlns:p14="http://schemas.microsoft.com/office/powerpoint/2010/main" val="3724450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6D5C0-7839-CBF2-20DA-0E65F3757B68}"/>
              </a:ext>
            </a:extLst>
          </p:cNvPr>
          <p:cNvSpPr>
            <a:spLocks noGrp="1"/>
          </p:cNvSpPr>
          <p:nvPr>
            <p:ph type="title"/>
          </p:nvPr>
        </p:nvSpPr>
        <p:spPr>
          <a:xfrm>
            <a:off x="256674" y="123755"/>
            <a:ext cx="11678652" cy="1287950"/>
          </a:xfrm>
        </p:spPr>
        <p:txBody>
          <a:bodyPr>
            <a:normAutofit/>
          </a:bodyPr>
          <a:lstStyle/>
          <a:p>
            <a:pPr algn="ctr"/>
            <a:r>
              <a:rPr lang="en-US" sz="3200" b="1" dirty="0">
                <a:latin typeface="Times New Roman" panose="02020603050405020304" pitchFamily="18" charset="0"/>
                <a:cs typeface="Times New Roman" panose="02020603050405020304" pitchFamily="18" charset="0"/>
              </a:rPr>
              <a:t>INSIGHT 2: Total rating across subscription plan</a:t>
            </a:r>
          </a:p>
        </p:txBody>
      </p:sp>
      <p:pic>
        <p:nvPicPr>
          <p:cNvPr id="8" name="Picture 7">
            <a:extLst>
              <a:ext uri="{FF2B5EF4-FFF2-40B4-BE49-F238E27FC236}">
                <a16:creationId xmlns:a16="http://schemas.microsoft.com/office/drawing/2014/main" id="{9CB4E645-35C1-C590-DC1F-028BC4019EB5}"/>
              </a:ext>
            </a:extLst>
          </p:cNvPr>
          <p:cNvPicPr>
            <a:picLocks noChangeAspect="1"/>
          </p:cNvPicPr>
          <p:nvPr/>
        </p:nvPicPr>
        <p:blipFill>
          <a:blip r:embed="rId2"/>
          <a:stretch>
            <a:fillRect/>
          </a:stretch>
        </p:blipFill>
        <p:spPr>
          <a:xfrm>
            <a:off x="3355387" y="1224374"/>
            <a:ext cx="5098802" cy="2937215"/>
          </a:xfrm>
          <a:prstGeom prst="rect">
            <a:avLst/>
          </a:prstGeom>
        </p:spPr>
      </p:pic>
      <p:graphicFrame>
        <p:nvGraphicFramePr>
          <p:cNvPr id="3" name="Table 2">
            <a:extLst>
              <a:ext uri="{FF2B5EF4-FFF2-40B4-BE49-F238E27FC236}">
                <a16:creationId xmlns:a16="http://schemas.microsoft.com/office/drawing/2014/main" id="{686601FC-FECF-94B2-DE13-5A532833FBE4}"/>
              </a:ext>
            </a:extLst>
          </p:cNvPr>
          <p:cNvGraphicFramePr>
            <a:graphicFrameLocks noGrp="1"/>
          </p:cNvGraphicFramePr>
          <p:nvPr>
            <p:extLst>
              <p:ext uri="{D42A27DB-BD31-4B8C-83A1-F6EECF244321}">
                <p14:modId xmlns:p14="http://schemas.microsoft.com/office/powerpoint/2010/main" val="1610873647"/>
              </p:ext>
            </p:extLst>
          </p:nvPr>
        </p:nvGraphicFramePr>
        <p:xfrm>
          <a:off x="577516" y="4331087"/>
          <a:ext cx="11036968" cy="2220278"/>
        </p:xfrm>
        <a:graphic>
          <a:graphicData uri="http://schemas.openxmlformats.org/drawingml/2006/table">
            <a:tbl>
              <a:tblPr firstRow="1" bandRow="1">
                <a:tableStyleId>{5940675A-B579-460E-94D1-54222C63F5DA}</a:tableStyleId>
              </a:tblPr>
              <a:tblGrid>
                <a:gridCol w="6129541">
                  <a:extLst>
                    <a:ext uri="{9D8B030D-6E8A-4147-A177-3AD203B41FA5}">
                      <a16:colId xmlns:a16="http://schemas.microsoft.com/office/drawing/2014/main" val="2172731944"/>
                    </a:ext>
                  </a:extLst>
                </a:gridCol>
                <a:gridCol w="4907427">
                  <a:extLst>
                    <a:ext uri="{9D8B030D-6E8A-4147-A177-3AD203B41FA5}">
                      <a16:colId xmlns:a16="http://schemas.microsoft.com/office/drawing/2014/main" val="71645243"/>
                    </a:ext>
                  </a:extLst>
                </a:gridCol>
              </a:tblGrid>
              <a:tr h="209003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2400" b="1" dirty="0">
                          <a:solidFill>
                            <a:schemeClr val="tx1"/>
                          </a:solidFill>
                          <a:latin typeface="Times New Roman" panose="02020603050405020304" pitchFamily="18" charset="0"/>
                          <a:cs typeface="Times New Roman" panose="02020603050405020304" pitchFamily="18" charset="0"/>
                        </a:rPr>
                        <a:t>Interpretation of Visual:</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2400" dirty="0">
                          <a:solidFill>
                            <a:schemeClr val="tx1"/>
                          </a:solidFill>
                          <a:latin typeface="Times New Roman" panose="02020603050405020304" pitchFamily="18" charset="0"/>
                          <a:cs typeface="Times New Roman" panose="02020603050405020304" pitchFamily="18" charset="0"/>
                        </a:rPr>
                        <a:t>Premium users show slightly higher ratings (~4.1K), followed by Free Trial (~4.0K) and Basic users (~3.9K).</a:t>
                      </a:r>
                    </a:p>
                  </a:txBody>
                  <a:tcPr/>
                </a:tc>
                <a:tc>
                  <a:txBody>
                    <a:bodyPr/>
                    <a:lstStyle/>
                    <a:p>
                      <a:pPr algn="ctr"/>
                      <a:r>
                        <a:rPr lang="en-US" sz="2400" b="1" dirty="0">
                          <a:solidFill>
                            <a:schemeClr val="tx1"/>
                          </a:solidFill>
                          <a:latin typeface="Times New Roman" panose="02020603050405020304" pitchFamily="18" charset="0"/>
                          <a:cs typeface="Times New Roman" panose="02020603050405020304" pitchFamily="18" charset="0"/>
                        </a:rPr>
                        <a:t>Business Action</a:t>
                      </a:r>
                    </a:p>
                    <a:p>
                      <a:pPr marL="0" indent="0">
                        <a:lnSpc>
                          <a:spcPct val="150000"/>
                        </a:lnSpc>
                        <a:buNone/>
                      </a:pPr>
                      <a:r>
                        <a:rPr lang="en-US" sz="2400" dirty="0">
                          <a:latin typeface="Times New Roman" panose="02020603050405020304" pitchFamily="18" charset="0"/>
                          <a:cs typeface="Times New Roman" panose="02020603050405020304" pitchFamily="18" charset="0"/>
                        </a:rPr>
                        <a:t>Have excellent content with celebrities only for premium users instead of all basic users.</a:t>
                      </a:r>
                    </a:p>
                  </a:txBody>
                  <a:tcPr/>
                </a:tc>
                <a:extLst>
                  <a:ext uri="{0D108BD9-81ED-4DB2-BD59-A6C34878D82A}">
                    <a16:rowId xmlns:a16="http://schemas.microsoft.com/office/drawing/2014/main" val="822222522"/>
                  </a:ext>
                </a:extLst>
              </a:tr>
            </a:tbl>
          </a:graphicData>
        </a:graphic>
      </p:graphicFrame>
      <p:sp>
        <p:nvSpPr>
          <p:cNvPr id="4" name="Slide Number Placeholder 3">
            <a:extLst>
              <a:ext uri="{FF2B5EF4-FFF2-40B4-BE49-F238E27FC236}">
                <a16:creationId xmlns:a16="http://schemas.microsoft.com/office/drawing/2014/main" id="{1B28D0D8-89BF-5D55-DF49-44F720837972}"/>
              </a:ext>
            </a:extLst>
          </p:cNvPr>
          <p:cNvSpPr>
            <a:spLocks noGrp="1"/>
          </p:cNvSpPr>
          <p:nvPr>
            <p:ph type="sldNum" sz="quarter" idx="12"/>
          </p:nvPr>
        </p:nvSpPr>
        <p:spPr/>
        <p:txBody>
          <a:bodyPr/>
          <a:lstStyle/>
          <a:p>
            <a:fld id="{5D5AD61A-4527-44E7-8BC9-F936DAF23490}" type="slidenum">
              <a:rPr lang="en-US" smtClean="0"/>
              <a:t>6</a:t>
            </a:fld>
            <a:endParaRPr lang="en-US" dirty="0"/>
          </a:p>
        </p:txBody>
      </p:sp>
    </p:spTree>
    <p:extLst>
      <p:ext uri="{BB962C8B-B14F-4D97-AF65-F5344CB8AC3E}">
        <p14:creationId xmlns:p14="http://schemas.microsoft.com/office/powerpoint/2010/main" val="1943179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B4A1A-CCBF-D0EA-D7C4-AED70B556F2F}"/>
              </a:ext>
            </a:extLst>
          </p:cNvPr>
          <p:cNvSpPr>
            <a:spLocks noGrp="1"/>
          </p:cNvSpPr>
          <p:nvPr>
            <p:ph type="title"/>
          </p:nvPr>
        </p:nvSpPr>
        <p:spPr>
          <a:xfrm>
            <a:off x="1004637" y="233296"/>
            <a:ext cx="10182725" cy="857568"/>
          </a:xfrm>
        </p:spPr>
        <p:txBody>
          <a:bodyPr>
            <a:normAutofit/>
          </a:bodyPr>
          <a:lstStyle/>
          <a:p>
            <a:pPr algn="ctr"/>
            <a:r>
              <a:rPr lang="en-US" sz="4400" b="1" dirty="0">
                <a:latin typeface="Times New Roman" panose="02020603050405020304" pitchFamily="18" charset="0"/>
                <a:cs typeface="Times New Roman" panose="02020603050405020304" pitchFamily="18" charset="0"/>
              </a:rPr>
              <a:t>Insight 3: Engagement Level</a:t>
            </a:r>
          </a:p>
        </p:txBody>
      </p:sp>
      <p:pic>
        <p:nvPicPr>
          <p:cNvPr id="8" name="Content Placeholder 7">
            <a:extLst>
              <a:ext uri="{FF2B5EF4-FFF2-40B4-BE49-F238E27FC236}">
                <a16:creationId xmlns:a16="http://schemas.microsoft.com/office/drawing/2014/main" id="{21B5A7A1-4F04-C020-231B-8A3DA119A5DB}"/>
              </a:ext>
            </a:extLst>
          </p:cNvPr>
          <p:cNvPicPr>
            <a:picLocks noGrp="1" noChangeAspect="1"/>
          </p:cNvPicPr>
          <p:nvPr>
            <p:ph idx="1"/>
          </p:nvPr>
        </p:nvPicPr>
        <p:blipFill>
          <a:blip r:embed="rId2"/>
          <a:stretch>
            <a:fillRect/>
          </a:stretch>
        </p:blipFill>
        <p:spPr>
          <a:xfrm>
            <a:off x="2611352" y="1232621"/>
            <a:ext cx="6637698" cy="2858115"/>
          </a:xfrm>
          <a:prstGeom prst="rect">
            <a:avLst/>
          </a:prstGeom>
        </p:spPr>
      </p:pic>
      <p:graphicFrame>
        <p:nvGraphicFramePr>
          <p:cNvPr id="4" name="Table 3">
            <a:extLst>
              <a:ext uri="{FF2B5EF4-FFF2-40B4-BE49-F238E27FC236}">
                <a16:creationId xmlns:a16="http://schemas.microsoft.com/office/drawing/2014/main" id="{F6FE5B50-2885-9935-87FB-FAB86B8D70FB}"/>
              </a:ext>
            </a:extLst>
          </p:cNvPr>
          <p:cNvGraphicFramePr>
            <a:graphicFrameLocks noGrp="1"/>
          </p:cNvGraphicFramePr>
          <p:nvPr>
            <p:extLst>
              <p:ext uri="{D42A27DB-BD31-4B8C-83A1-F6EECF244321}">
                <p14:modId xmlns:p14="http://schemas.microsoft.com/office/powerpoint/2010/main" val="713584532"/>
              </p:ext>
            </p:extLst>
          </p:nvPr>
        </p:nvGraphicFramePr>
        <p:xfrm>
          <a:off x="227462" y="4302064"/>
          <a:ext cx="11737073" cy="2322640"/>
        </p:xfrm>
        <a:graphic>
          <a:graphicData uri="http://schemas.openxmlformats.org/drawingml/2006/table">
            <a:tbl>
              <a:tblPr firstRow="1" bandRow="1">
                <a:tableStyleId>{5940675A-B579-460E-94D1-54222C63F5DA}</a:tableStyleId>
              </a:tblPr>
              <a:tblGrid>
                <a:gridCol w="4327250">
                  <a:extLst>
                    <a:ext uri="{9D8B030D-6E8A-4147-A177-3AD203B41FA5}">
                      <a16:colId xmlns:a16="http://schemas.microsoft.com/office/drawing/2014/main" val="2172731944"/>
                    </a:ext>
                  </a:extLst>
                </a:gridCol>
                <a:gridCol w="7409823">
                  <a:extLst>
                    <a:ext uri="{9D8B030D-6E8A-4147-A177-3AD203B41FA5}">
                      <a16:colId xmlns:a16="http://schemas.microsoft.com/office/drawing/2014/main" val="71645243"/>
                    </a:ext>
                  </a:extLst>
                </a:gridCol>
              </a:tblGrid>
              <a:tr h="209738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2000" b="1" dirty="0">
                          <a:latin typeface="Times New Roman" panose="02020603050405020304" pitchFamily="18" charset="0"/>
                          <a:cs typeface="Times New Roman" panose="02020603050405020304" pitchFamily="18" charset="0"/>
                        </a:rPr>
                        <a:t>Interpretation of visual:</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Most users are active at night which gives 1.42M minutes watch time and whereas morning is lowest with 1.25M minutes.</a:t>
                      </a:r>
                    </a:p>
                  </a:txBody>
                  <a:tcPr/>
                </a:tc>
                <a:tc>
                  <a:txBody>
                    <a:bodyPr/>
                    <a:lstStyle/>
                    <a:p>
                      <a:pPr algn="ctr"/>
                      <a:r>
                        <a:rPr lang="en-US" sz="2000" b="1" dirty="0">
                          <a:latin typeface="Times New Roman" panose="02020603050405020304" pitchFamily="18" charset="0"/>
                          <a:cs typeface="Times New Roman" panose="02020603050405020304" pitchFamily="18" charset="0"/>
                        </a:rPr>
                        <a:t>Business Action</a:t>
                      </a:r>
                    </a:p>
                    <a:p>
                      <a:pPr algn="ctr"/>
                      <a:r>
                        <a:rPr lang="en-US" sz="2000" dirty="0">
                          <a:latin typeface="Times New Roman" panose="02020603050405020304" pitchFamily="18" charset="0"/>
                          <a:cs typeface="Times New Roman" panose="02020603050405020304" pitchFamily="18" charset="0"/>
                        </a:rPr>
                        <a:t>We should schedule are most of the content at nighttime between 9 Pm to 12 Pm because as we already seen trends in matrix table and usually this type all the users want to binge watch shows.</a:t>
                      </a:r>
                    </a:p>
                    <a:p>
                      <a:pPr algn="ctr"/>
                      <a:r>
                        <a:rPr lang="en-US" sz="2000" dirty="0">
                          <a:latin typeface="Times New Roman" panose="02020603050405020304" pitchFamily="18" charset="0"/>
                          <a:cs typeface="Times New Roman" panose="02020603050405020304" pitchFamily="18" charset="0"/>
                        </a:rPr>
                        <a:t>For increasing morning watch time have content like sober music or religious music</a:t>
                      </a:r>
                    </a:p>
                  </a:txBody>
                  <a:tcPr/>
                </a:tc>
                <a:extLst>
                  <a:ext uri="{0D108BD9-81ED-4DB2-BD59-A6C34878D82A}">
                    <a16:rowId xmlns:a16="http://schemas.microsoft.com/office/drawing/2014/main" val="822222522"/>
                  </a:ext>
                </a:extLst>
              </a:tr>
            </a:tbl>
          </a:graphicData>
        </a:graphic>
      </p:graphicFrame>
      <p:sp>
        <p:nvSpPr>
          <p:cNvPr id="5" name="Slide Number Placeholder 4">
            <a:extLst>
              <a:ext uri="{FF2B5EF4-FFF2-40B4-BE49-F238E27FC236}">
                <a16:creationId xmlns:a16="http://schemas.microsoft.com/office/drawing/2014/main" id="{F61D1B88-870C-744E-3950-EC13726ECF32}"/>
              </a:ext>
            </a:extLst>
          </p:cNvPr>
          <p:cNvSpPr>
            <a:spLocks noGrp="1"/>
          </p:cNvSpPr>
          <p:nvPr>
            <p:ph type="sldNum" sz="quarter" idx="12"/>
          </p:nvPr>
        </p:nvSpPr>
        <p:spPr/>
        <p:txBody>
          <a:bodyPr/>
          <a:lstStyle/>
          <a:p>
            <a:fld id="{5D5AD61A-4527-44E7-8BC9-F936DAF23490}" type="slidenum">
              <a:rPr lang="en-US" smtClean="0"/>
              <a:t>7</a:t>
            </a:fld>
            <a:endParaRPr lang="en-US" dirty="0"/>
          </a:p>
        </p:txBody>
      </p:sp>
    </p:spTree>
    <p:extLst>
      <p:ext uri="{BB962C8B-B14F-4D97-AF65-F5344CB8AC3E}">
        <p14:creationId xmlns:p14="http://schemas.microsoft.com/office/powerpoint/2010/main" val="1179900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60D31-ED86-92BE-D559-74AE33681B1D}"/>
              </a:ext>
            </a:extLst>
          </p:cNvPr>
          <p:cNvSpPr>
            <a:spLocks noGrp="1"/>
          </p:cNvSpPr>
          <p:nvPr>
            <p:ph type="title"/>
          </p:nvPr>
        </p:nvSpPr>
        <p:spPr>
          <a:xfrm>
            <a:off x="191987" y="5030"/>
            <a:ext cx="2583297" cy="3877159"/>
          </a:xfrm>
        </p:spPr>
        <p:txBody>
          <a:bodyPr>
            <a:normAutofit/>
          </a:bodyPr>
          <a:lstStyle/>
          <a:p>
            <a:pPr algn="ctr">
              <a:lnSpc>
                <a:spcPct val="150000"/>
              </a:lnSpc>
            </a:pPr>
            <a:r>
              <a:rPr lang="en-US" sz="2800" b="1" dirty="0">
                <a:latin typeface="Times New Roman" panose="02020603050405020304" pitchFamily="18" charset="0"/>
                <a:cs typeface="Times New Roman" panose="02020603050405020304" pitchFamily="18" charset="0"/>
              </a:rPr>
              <a:t>INSIGHT 4: Predicting future patterns</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of sessions</a:t>
            </a:r>
          </a:p>
        </p:txBody>
      </p:sp>
      <p:pic>
        <p:nvPicPr>
          <p:cNvPr id="8" name="Picture 7">
            <a:extLst>
              <a:ext uri="{FF2B5EF4-FFF2-40B4-BE49-F238E27FC236}">
                <a16:creationId xmlns:a16="http://schemas.microsoft.com/office/drawing/2014/main" id="{8759A509-A704-16FE-2592-A67471FC241D}"/>
              </a:ext>
            </a:extLst>
          </p:cNvPr>
          <p:cNvPicPr>
            <a:picLocks noChangeAspect="1"/>
          </p:cNvPicPr>
          <p:nvPr/>
        </p:nvPicPr>
        <p:blipFill>
          <a:blip r:embed="rId2"/>
          <a:stretch>
            <a:fillRect/>
          </a:stretch>
        </p:blipFill>
        <p:spPr>
          <a:xfrm>
            <a:off x="3690843" y="7211"/>
            <a:ext cx="8100104" cy="4271696"/>
          </a:xfrm>
          <a:prstGeom prst="rect">
            <a:avLst/>
          </a:prstGeom>
        </p:spPr>
      </p:pic>
      <p:graphicFrame>
        <p:nvGraphicFramePr>
          <p:cNvPr id="3" name="Table 2">
            <a:extLst>
              <a:ext uri="{FF2B5EF4-FFF2-40B4-BE49-F238E27FC236}">
                <a16:creationId xmlns:a16="http://schemas.microsoft.com/office/drawing/2014/main" id="{5987D57B-C8E6-7ED3-8E1D-CF924421638A}"/>
              </a:ext>
            </a:extLst>
          </p:cNvPr>
          <p:cNvGraphicFramePr>
            <a:graphicFrameLocks noGrp="1"/>
          </p:cNvGraphicFramePr>
          <p:nvPr>
            <p:extLst>
              <p:ext uri="{D42A27DB-BD31-4B8C-83A1-F6EECF244321}">
                <p14:modId xmlns:p14="http://schemas.microsoft.com/office/powerpoint/2010/main" val="3385283319"/>
              </p:ext>
            </p:extLst>
          </p:nvPr>
        </p:nvGraphicFramePr>
        <p:xfrm>
          <a:off x="401053" y="4398378"/>
          <a:ext cx="11389894" cy="2286000"/>
        </p:xfrm>
        <a:graphic>
          <a:graphicData uri="http://schemas.openxmlformats.org/drawingml/2006/table">
            <a:tbl>
              <a:tblPr firstRow="1" bandRow="1">
                <a:tableStyleId>{5940675A-B579-460E-94D1-54222C63F5DA}</a:tableStyleId>
              </a:tblPr>
              <a:tblGrid>
                <a:gridCol w="7571873">
                  <a:extLst>
                    <a:ext uri="{9D8B030D-6E8A-4147-A177-3AD203B41FA5}">
                      <a16:colId xmlns:a16="http://schemas.microsoft.com/office/drawing/2014/main" val="2172731944"/>
                    </a:ext>
                  </a:extLst>
                </a:gridCol>
                <a:gridCol w="3818021">
                  <a:extLst>
                    <a:ext uri="{9D8B030D-6E8A-4147-A177-3AD203B41FA5}">
                      <a16:colId xmlns:a16="http://schemas.microsoft.com/office/drawing/2014/main" val="71645243"/>
                    </a:ext>
                  </a:extLst>
                </a:gridCol>
              </a:tblGrid>
              <a:tr h="1881261">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Interpretation of visual:</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Session total are 30K, but it is not growing. Forecast also looks stable like not any bigger spike which tells we are retaining our current users but not able to scale up on them.</a:t>
                      </a:r>
                    </a:p>
                  </a:txBody>
                  <a:tcPr/>
                </a:tc>
                <a:tc>
                  <a:txBody>
                    <a:bodyPr/>
                    <a:lstStyle/>
                    <a:p>
                      <a:pPr algn="ctr"/>
                      <a:r>
                        <a:rPr lang="en-US" sz="2400" b="1" dirty="0">
                          <a:latin typeface="Times New Roman" panose="02020603050405020304" pitchFamily="18" charset="0"/>
                          <a:cs typeface="Times New Roman" panose="02020603050405020304" pitchFamily="18" charset="0"/>
                        </a:rPr>
                        <a:t>Business Action</a:t>
                      </a:r>
                    </a:p>
                    <a:p>
                      <a:pPr algn="ctr"/>
                      <a:r>
                        <a:rPr lang="en-US" sz="2400" dirty="0">
                          <a:latin typeface="Times New Roman" panose="02020603050405020304" pitchFamily="18" charset="0"/>
                          <a:cs typeface="Times New Roman" panose="02020603050405020304" pitchFamily="18" charset="0"/>
                        </a:rPr>
                        <a:t>We can run new campaigns to attract new users like heavy discount, new content regularly and if it works, we can increase the scale for it</a:t>
                      </a:r>
                    </a:p>
                  </a:txBody>
                  <a:tcPr/>
                </a:tc>
                <a:extLst>
                  <a:ext uri="{0D108BD9-81ED-4DB2-BD59-A6C34878D82A}">
                    <a16:rowId xmlns:a16="http://schemas.microsoft.com/office/drawing/2014/main" val="822222522"/>
                  </a:ext>
                </a:extLst>
              </a:tr>
            </a:tbl>
          </a:graphicData>
        </a:graphic>
      </p:graphicFrame>
      <p:sp>
        <p:nvSpPr>
          <p:cNvPr id="5" name="Slide Number Placeholder 4">
            <a:extLst>
              <a:ext uri="{FF2B5EF4-FFF2-40B4-BE49-F238E27FC236}">
                <a16:creationId xmlns:a16="http://schemas.microsoft.com/office/drawing/2014/main" id="{B7CB0B08-638B-3FE1-82B5-9820E331F119}"/>
              </a:ext>
            </a:extLst>
          </p:cNvPr>
          <p:cNvSpPr>
            <a:spLocks noGrp="1"/>
          </p:cNvSpPr>
          <p:nvPr>
            <p:ph type="sldNum" sz="quarter" idx="12"/>
          </p:nvPr>
        </p:nvSpPr>
        <p:spPr/>
        <p:txBody>
          <a:bodyPr/>
          <a:lstStyle/>
          <a:p>
            <a:fld id="{5D5AD61A-4527-44E7-8BC9-F936DAF23490}" type="slidenum">
              <a:rPr lang="en-US" smtClean="0"/>
              <a:t>8</a:t>
            </a:fld>
            <a:endParaRPr lang="en-US" dirty="0"/>
          </a:p>
        </p:txBody>
      </p:sp>
    </p:spTree>
    <p:extLst>
      <p:ext uri="{BB962C8B-B14F-4D97-AF65-F5344CB8AC3E}">
        <p14:creationId xmlns:p14="http://schemas.microsoft.com/office/powerpoint/2010/main" val="2576909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1AD1F4-CC90-E348-DD84-9667C1D6ACFE}"/>
              </a:ext>
            </a:extLst>
          </p:cNvPr>
          <p:cNvSpPr txBox="1"/>
          <p:nvPr/>
        </p:nvSpPr>
        <p:spPr>
          <a:xfrm>
            <a:off x="338811" y="206477"/>
            <a:ext cx="11636879" cy="954107"/>
          </a:xfrm>
          <a:prstGeom prst="rect">
            <a:avLst/>
          </a:prstGeom>
          <a:noFill/>
        </p:spPr>
        <p:txBody>
          <a:bodyPr wrap="square" rtlCol="0">
            <a:spAutoFit/>
          </a:bodyPr>
          <a:lstStyle/>
          <a:p>
            <a:pPr algn="ctr"/>
            <a:r>
              <a:rPr lang="en-US" sz="2800" dirty="0"/>
              <a:t>MACHINE LEARNING MODELS</a:t>
            </a:r>
          </a:p>
          <a:p>
            <a:pPr algn="ctr"/>
            <a:r>
              <a:rPr lang="en-US" sz="2800" dirty="0"/>
              <a:t>(K-Means was implemented for User Segmentation &amp; Engagement Analysis)</a:t>
            </a:r>
          </a:p>
        </p:txBody>
      </p:sp>
      <p:sp>
        <p:nvSpPr>
          <p:cNvPr id="6" name="Rectangle: Rounded Corners 5">
            <a:extLst>
              <a:ext uri="{FF2B5EF4-FFF2-40B4-BE49-F238E27FC236}">
                <a16:creationId xmlns:a16="http://schemas.microsoft.com/office/drawing/2014/main" id="{B490C950-98DA-08C0-DF5C-4FD1588B77E0}"/>
              </a:ext>
            </a:extLst>
          </p:cNvPr>
          <p:cNvSpPr/>
          <p:nvPr/>
        </p:nvSpPr>
        <p:spPr>
          <a:xfrm>
            <a:off x="6902245" y="1356852"/>
            <a:ext cx="4950944" cy="5294671"/>
          </a:xfrm>
          <a:prstGeom prst="roundRect">
            <a:avLst/>
          </a:prstGeom>
          <a:solidFill>
            <a:schemeClr val="accent5">
              <a:alpha val="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150000"/>
              </a:lnSpc>
            </a:pPr>
            <a:r>
              <a:rPr lang="en-US" dirty="0">
                <a:latin typeface="Times New Roman" panose="02020603050405020304" pitchFamily="18" charset="0"/>
                <a:cs typeface="Times New Roman" panose="02020603050405020304" pitchFamily="18" charset="0"/>
              </a:rPr>
              <a:t>The ML model segmented OTT users into 3 distinct groups based on their subscription duration and ratings.</a:t>
            </a:r>
          </a:p>
          <a:p>
            <a:pPr>
              <a:lnSpc>
                <a:spcPct val="150000"/>
              </a:lnSpc>
            </a:pPr>
            <a:r>
              <a:rPr lang="en-US" dirty="0">
                <a:latin typeface="Times New Roman" panose="02020603050405020304" pitchFamily="18" charset="0"/>
                <a:cs typeface="Times New Roman" panose="02020603050405020304" pitchFamily="18" charset="0"/>
              </a:rPr>
              <a:t>1. </a:t>
            </a:r>
            <a:r>
              <a:rPr lang="en-US" dirty="0">
                <a:highlight>
                  <a:srgbClr val="0000FF"/>
                </a:highlight>
                <a:latin typeface="Times New Roman" panose="02020603050405020304" pitchFamily="18" charset="0"/>
                <a:cs typeface="Times New Roman" panose="02020603050405020304" pitchFamily="18" charset="0"/>
              </a:rPr>
              <a:t>Prospective Users</a:t>
            </a:r>
            <a:r>
              <a:rPr lang="en-US" dirty="0">
                <a:latin typeface="Times New Roman" panose="02020603050405020304" pitchFamily="18" charset="0"/>
                <a:cs typeface="Times New Roman" panose="02020603050405020304" pitchFamily="18" charset="0"/>
              </a:rPr>
              <a:t>:-Users with shorter subscriptions and moderate engagement on the platform </a:t>
            </a:r>
            <a:r>
              <a:rPr lang="en-US" i="1" dirty="0">
                <a:latin typeface="Times New Roman" panose="02020603050405020304" pitchFamily="18" charset="0"/>
                <a:cs typeface="Times New Roman" panose="02020603050405020304" pitchFamily="18" charset="0"/>
              </a:rPr>
              <a:t>(represented in Blue)</a:t>
            </a:r>
            <a:r>
              <a:rPr lang="en-US" dirty="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2. </a:t>
            </a:r>
            <a:r>
              <a:rPr lang="en-US" dirty="0">
                <a:highlight>
                  <a:srgbClr val="FF0000"/>
                </a:highlight>
                <a:latin typeface="Times New Roman" panose="02020603050405020304" pitchFamily="18" charset="0"/>
                <a:cs typeface="Times New Roman" panose="02020603050405020304" pitchFamily="18" charset="0"/>
              </a:rPr>
              <a:t>At-Risk Users</a:t>
            </a:r>
            <a:r>
              <a:rPr lang="en-US" dirty="0">
                <a:latin typeface="Times New Roman" panose="02020603050405020304" pitchFamily="18" charset="0"/>
                <a:cs typeface="Times New Roman" panose="02020603050405020304" pitchFamily="18" charset="0"/>
              </a:rPr>
              <a:t>:-Users showing lower satisfaction levels and higher chances of churn </a:t>
            </a:r>
            <a:r>
              <a:rPr lang="en-US" i="1" dirty="0">
                <a:latin typeface="Times New Roman" panose="02020603050405020304" pitchFamily="18" charset="0"/>
                <a:cs typeface="Times New Roman" panose="02020603050405020304" pitchFamily="18" charset="0"/>
              </a:rPr>
              <a:t>(represented in Red)</a:t>
            </a:r>
            <a:r>
              <a:rPr lang="en-US" dirty="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3. </a:t>
            </a:r>
            <a:r>
              <a:rPr lang="en-US" dirty="0">
                <a:highlight>
                  <a:srgbClr val="008000"/>
                </a:highlight>
                <a:latin typeface="Times New Roman" panose="02020603050405020304" pitchFamily="18" charset="0"/>
                <a:cs typeface="Times New Roman" panose="02020603050405020304" pitchFamily="18" charset="0"/>
              </a:rPr>
              <a:t>High Engagers</a:t>
            </a:r>
            <a:r>
              <a:rPr lang="en-US" dirty="0">
                <a:latin typeface="Times New Roman" panose="02020603050405020304" pitchFamily="18" charset="0"/>
                <a:cs typeface="Times New Roman" panose="02020603050405020304" pitchFamily="18" charset="0"/>
              </a:rPr>
              <a:t>:-Highly active users with longer subscriptions and better ratings </a:t>
            </a:r>
            <a:r>
              <a:rPr lang="en-US" i="1" dirty="0">
                <a:latin typeface="Times New Roman" panose="02020603050405020304" pitchFamily="18" charset="0"/>
                <a:cs typeface="Times New Roman" panose="02020603050405020304" pitchFamily="18" charset="0"/>
              </a:rPr>
              <a:t>(represented in Green)</a:t>
            </a:r>
            <a:r>
              <a:rPr lang="en-US" dirty="0">
                <a:latin typeface="Times New Roman" panose="02020603050405020304" pitchFamily="18" charset="0"/>
                <a:cs typeface="Times New Roman" panose="02020603050405020304" pitchFamily="18" charset="0"/>
              </a:rPr>
              <a:t>.</a:t>
            </a:r>
          </a:p>
          <a:p>
            <a:pPr algn="ctr">
              <a:lnSpc>
                <a:spcPct val="150000"/>
              </a:lnSpc>
            </a:pPr>
            <a:endParaRPr lang="en-US" sz="1400" dirty="0"/>
          </a:p>
        </p:txBody>
      </p:sp>
      <p:pic>
        <p:nvPicPr>
          <p:cNvPr id="4" name="Picture 3">
            <a:extLst>
              <a:ext uri="{FF2B5EF4-FFF2-40B4-BE49-F238E27FC236}">
                <a16:creationId xmlns:a16="http://schemas.microsoft.com/office/drawing/2014/main" id="{CC22FE0B-06BE-D54D-470E-AD3284BD5F46}"/>
              </a:ext>
            </a:extLst>
          </p:cNvPr>
          <p:cNvPicPr>
            <a:picLocks noChangeAspect="1"/>
          </p:cNvPicPr>
          <p:nvPr/>
        </p:nvPicPr>
        <p:blipFill>
          <a:blip r:embed="rId3"/>
          <a:stretch>
            <a:fillRect/>
          </a:stretch>
        </p:blipFill>
        <p:spPr>
          <a:xfrm>
            <a:off x="474000" y="1925837"/>
            <a:ext cx="6428245" cy="3575311"/>
          </a:xfrm>
          <a:prstGeom prst="rect">
            <a:avLst/>
          </a:prstGeom>
        </p:spPr>
      </p:pic>
      <p:sp>
        <p:nvSpPr>
          <p:cNvPr id="2" name="Slide Number Placeholder 1">
            <a:extLst>
              <a:ext uri="{FF2B5EF4-FFF2-40B4-BE49-F238E27FC236}">
                <a16:creationId xmlns:a16="http://schemas.microsoft.com/office/drawing/2014/main" id="{F3F2080C-D1F5-177A-5B0A-ECA2D0B469B5}"/>
              </a:ext>
            </a:extLst>
          </p:cNvPr>
          <p:cNvSpPr>
            <a:spLocks noGrp="1"/>
          </p:cNvSpPr>
          <p:nvPr>
            <p:ph type="sldNum" sz="quarter" idx="12"/>
          </p:nvPr>
        </p:nvSpPr>
        <p:spPr/>
        <p:txBody>
          <a:bodyPr/>
          <a:lstStyle/>
          <a:p>
            <a:fld id="{5D5AD61A-4527-44E7-8BC9-F936DAF23490}" type="slidenum">
              <a:rPr lang="en-US" smtClean="0"/>
              <a:t>9</a:t>
            </a:fld>
            <a:endParaRPr lang="en-US" dirty="0"/>
          </a:p>
        </p:txBody>
      </p:sp>
    </p:spTree>
    <p:extLst>
      <p:ext uri="{BB962C8B-B14F-4D97-AF65-F5344CB8AC3E}">
        <p14:creationId xmlns:p14="http://schemas.microsoft.com/office/powerpoint/2010/main" val="1302204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66297-B62E-AF9B-406E-FDE27D1B5A54}"/>
              </a:ext>
            </a:extLst>
          </p:cNvPr>
          <p:cNvSpPr>
            <a:spLocks noGrp="1"/>
          </p:cNvSpPr>
          <p:nvPr>
            <p:ph type="title"/>
          </p:nvPr>
        </p:nvSpPr>
        <p:spPr>
          <a:xfrm>
            <a:off x="1644445" y="273267"/>
            <a:ext cx="9040761" cy="645927"/>
          </a:xfrm>
          <a:solidFill>
            <a:schemeClr val="bg1"/>
          </a:solidFill>
        </p:spPr>
        <p:txBody>
          <a:bodyPr>
            <a:normAutofit/>
          </a:bodyPr>
          <a:lstStyle/>
          <a:p>
            <a:pPr algn="ctr"/>
            <a:r>
              <a:rPr lang="en-US" b="1" dirty="0">
                <a:latin typeface="Times New Roman" panose="02020603050405020304" pitchFamily="18" charset="0"/>
                <a:cs typeface="Times New Roman" panose="02020603050405020304" pitchFamily="18" charset="0"/>
              </a:rPr>
              <a:t>Why Are At-Risk Users Not Happy?</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C0FCD8E-A218-33FF-0F70-75B09D4D5690}"/>
              </a:ext>
            </a:extLst>
          </p:cNvPr>
          <p:cNvSpPr txBox="1"/>
          <p:nvPr/>
        </p:nvSpPr>
        <p:spPr>
          <a:xfrm>
            <a:off x="501445" y="1179871"/>
            <a:ext cx="11105536"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highlight>
                  <a:srgbClr val="FF0000"/>
                </a:highlight>
                <a:latin typeface="Times New Roman" panose="02020603050405020304" pitchFamily="18" charset="0"/>
                <a:cs typeface="Times New Roman" panose="02020603050405020304" pitchFamily="18" charset="0"/>
              </a:rPr>
              <a:t>At-Risk users </a:t>
            </a:r>
            <a:r>
              <a:rPr lang="en-US" sz="2000" dirty="0">
                <a:latin typeface="Times New Roman" panose="02020603050405020304" pitchFamily="18" charset="0"/>
                <a:cs typeface="Times New Roman" panose="02020603050405020304" pitchFamily="18" charset="0"/>
              </a:rPr>
              <a:t>have the lowest average rating (2.35) among all segments.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Their subscription duration is high (274 days), showing they stayed on the platform for a long time but remained dissatisfied.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Completion percentage is almost like other users, which suggests they are watching content but not enjoying it enough to rate it positively.</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2654911-CF08-C8B0-883C-DE5E4DE7D3EC}"/>
              </a:ext>
            </a:extLst>
          </p:cNvPr>
          <p:cNvSpPr txBox="1"/>
          <p:nvPr/>
        </p:nvSpPr>
        <p:spPr>
          <a:xfrm>
            <a:off x="3362632" y="3105834"/>
            <a:ext cx="6120581" cy="646331"/>
          </a:xfrm>
          <a:prstGeom prst="rect">
            <a:avLst/>
          </a:prstGeom>
          <a:solidFill>
            <a:schemeClr val="bg1"/>
          </a:solid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SUGGESTED SOLUTIONS</a:t>
            </a:r>
          </a:p>
        </p:txBody>
      </p:sp>
      <p:sp>
        <p:nvSpPr>
          <p:cNvPr id="5" name="TextBox 4">
            <a:extLst>
              <a:ext uri="{FF2B5EF4-FFF2-40B4-BE49-F238E27FC236}">
                <a16:creationId xmlns:a16="http://schemas.microsoft.com/office/drawing/2014/main" id="{70B43FF3-3DA3-FA9E-8FB7-D4434AEC17BD}"/>
              </a:ext>
            </a:extLst>
          </p:cNvPr>
          <p:cNvSpPr txBox="1"/>
          <p:nvPr/>
        </p:nvSpPr>
        <p:spPr>
          <a:xfrm>
            <a:off x="722671" y="3982065"/>
            <a:ext cx="10884310" cy="224676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 more personalized content based on users’ watch history and preferred genres.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Push trending and highly-rated shows to improve overall viewing satisfaction.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Introduce retention strategies such as loyalty benefits, premium trials, or special renewal offers for long-term users.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low-rated content categories to better understand changing audience preferences and improve content strategy. </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D1A04D84-58E6-5731-CADF-C1D9A2C883A7}"/>
              </a:ext>
            </a:extLst>
          </p:cNvPr>
          <p:cNvSpPr>
            <a:spLocks noGrp="1"/>
          </p:cNvSpPr>
          <p:nvPr>
            <p:ph type="sldNum" sz="quarter" idx="12"/>
          </p:nvPr>
        </p:nvSpPr>
        <p:spPr/>
        <p:txBody>
          <a:bodyPr/>
          <a:lstStyle/>
          <a:p>
            <a:fld id="{5D5AD61A-4527-44E7-8BC9-F936DAF23490}" type="slidenum">
              <a:rPr lang="en-US" smtClean="0"/>
              <a:t>10</a:t>
            </a:fld>
            <a:endParaRPr lang="en-US" dirty="0"/>
          </a:p>
        </p:txBody>
      </p:sp>
    </p:spTree>
    <p:extLst>
      <p:ext uri="{BB962C8B-B14F-4D97-AF65-F5344CB8AC3E}">
        <p14:creationId xmlns:p14="http://schemas.microsoft.com/office/powerpoint/2010/main" val="226848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E10F2F0-733F-8B6B-A7B4-977FCD947619}"/>
              </a:ext>
            </a:extLst>
          </p:cNvPr>
          <p:cNvGraphicFramePr>
            <a:graphicFrameLocks noGrp="1"/>
          </p:cNvGraphicFramePr>
          <p:nvPr>
            <p:extLst>
              <p:ext uri="{D42A27DB-BD31-4B8C-83A1-F6EECF244321}">
                <p14:modId xmlns:p14="http://schemas.microsoft.com/office/powerpoint/2010/main" val="1658660712"/>
              </p:ext>
            </p:extLst>
          </p:nvPr>
        </p:nvGraphicFramePr>
        <p:xfrm>
          <a:off x="-1" y="0"/>
          <a:ext cx="5374095" cy="6858000"/>
        </p:xfrm>
        <a:graphic>
          <a:graphicData uri="http://schemas.openxmlformats.org/drawingml/2006/table">
            <a:tbl>
              <a:tblPr firstRow="1" bandRow="1">
                <a:tableStyleId>{2D5ABB26-0587-4C30-8999-92F81FD0307C}</a:tableStyleId>
              </a:tblPr>
              <a:tblGrid>
                <a:gridCol w="5374095">
                  <a:extLst>
                    <a:ext uri="{9D8B030D-6E8A-4147-A177-3AD203B41FA5}">
                      <a16:colId xmlns:a16="http://schemas.microsoft.com/office/drawing/2014/main" val="4222893756"/>
                    </a:ext>
                  </a:extLst>
                </a:gridCol>
              </a:tblGrid>
              <a:tr h="1046072">
                <a:tc>
                  <a:txBody>
                    <a:bodyPr/>
                    <a:lstStyle/>
                    <a:p>
                      <a:r>
                        <a:rPr lang="en-US" sz="2000" b="1" kern="1200" dirty="0">
                          <a:solidFill>
                            <a:schemeClr val="tx1"/>
                          </a:solidFill>
                        </a:rPr>
                        <a:t>Machine Learning algorithm:  </a:t>
                      </a:r>
                    </a:p>
                    <a:p>
                      <a:r>
                        <a:rPr lang="en-US" sz="2000" b="1" kern="1200" dirty="0">
                          <a:solidFill>
                            <a:schemeClr val="tx1"/>
                          </a:solidFill>
                        </a:rPr>
                        <a:t>Logistic Regression</a:t>
                      </a:r>
                      <a:endParaRPr lang="en-US" sz="2000" b="1" kern="1200" dirty="0">
                        <a:solidFill>
                          <a:schemeClr val="tx1"/>
                        </a:solidFill>
                        <a:latin typeface="+mn-lt"/>
                        <a:ea typeface="+mn-ea"/>
                        <a:cs typeface="+mn-cs"/>
                      </a:endParaRPr>
                    </a:p>
                  </a:txBody>
                  <a:tcPr/>
                </a:tc>
                <a:extLst>
                  <a:ext uri="{0D108BD9-81ED-4DB2-BD59-A6C34878D82A}">
                    <a16:rowId xmlns:a16="http://schemas.microsoft.com/office/drawing/2014/main" val="695954336"/>
                  </a:ext>
                </a:extLst>
              </a:tr>
              <a:tr h="2462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highlight>
                            <a:srgbClr val="FFFF00"/>
                          </a:highlight>
                        </a:rPr>
                        <a:t>Purpose of the ML model: The model can correctly Predict customer churn (whether the customers will return to the OTT platform or not) based on 5 parameters shared by the user.</a:t>
                      </a:r>
                      <a:endParaRPr lang="en-US" sz="2400" dirty="0">
                        <a:solidFill>
                          <a:schemeClr val="bg1"/>
                        </a:solidFill>
                        <a:highlight>
                          <a:srgbClr val="FFFF00"/>
                        </a:highligh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22179466"/>
                  </a:ext>
                </a:extLst>
              </a:tr>
              <a:tr h="1685124">
                <a:tc>
                  <a:txBody>
                    <a:bodyPr/>
                    <a:lstStyle/>
                    <a:p>
                      <a:r>
                        <a:rPr lang="en-US" sz="1800" dirty="0">
                          <a:solidFill>
                            <a:schemeClr val="tx1"/>
                          </a:solidFill>
                        </a:rPr>
                        <a:t>Input Data: 'watch_duration_minutes',        'completion_percentage',        'subscription_duration_days',  'paused_times',  'monthly_fee'</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80798213"/>
                  </a:ext>
                </a:extLst>
              </a:tr>
              <a:tr h="617859">
                <a:tc>
                  <a:txBody>
                    <a:bodyPr/>
                    <a:lstStyle/>
                    <a:p>
                      <a:r>
                        <a:rPr lang="en-US" sz="1800" dirty="0">
                          <a:solidFill>
                            <a:schemeClr val="tx1"/>
                          </a:solidFill>
                        </a:rPr>
                        <a:t>Output of ML model: churn_flag</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3389055"/>
                  </a:ext>
                </a:extLst>
              </a:tr>
              <a:tr h="10460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Model Performance: Model is reliable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rPr>
                        <a:t>Accuracy: 70%</a:t>
                      </a:r>
                    </a:p>
                    <a:p>
                      <a:r>
                        <a:rPr lang="en-US" sz="1800" dirty="0">
                          <a:solidFill>
                            <a:schemeClr val="tx1"/>
                          </a:solidFill>
                        </a:rPr>
                        <a:t>F1 score: 68%</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942434"/>
                  </a:ext>
                </a:extLst>
              </a:tr>
            </a:tbl>
          </a:graphicData>
        </a:graphic>
      </p:graphicFrame>
      <p:graphicFrame>
        <p:nvGraphicFramePr>
          <p:cNvPr id="5" name="Table 4">
            <a:extLst>
              <a:ext uri="{FF2B5EF4-FFF2-40B4-BE49-F238E27FC236}">
                <a16:creationId xmlns:a16="http://schemas.microsoft.com/office/drawing/2014/main" id="{D3FCBCBA-55B4-1CAA-8F95-9CB1FE2B8E5A}"/>
              </a:ext>
            </a:extLst>
          </p:cNvPr>
          <p:cNvGraphicFramePr>
            <a:graphicFrameLocks noGrp="1"/>
          </p:cNvGraphicFramePr>
          <p:nvPr>
            <p:extLst>
              <p:ext uri="{D42A27DB-BD31-4B8C-83A1-F6EECF244321}">
                <p14:modId xmlns:p14="http://schemas.microsoft.com/office/powerpoint/2010/main" val="312917839"/>
              </p:ext>
            </p:extLst>
          </p:nvPr>
        </p:nvGraphicFramePr>
        <p:xfrm>
          <a:off x="6689558" y="-1"/>
          <a:ext cx="5502443" cy="6858001"/>
        </p:xfrm>
        <a:graphic>
          <a:graphicData uri="http://schemas.openxmlformats.org/drawingml/2006/table">
            <a:tbl>
              <a:tblPr firstRow="1" bandRow="1">
                <a:tableStyleId>{2D5ABB26-0587-4C30-8999-92F81FD0307C}</a:tableStyleId>
              </a:tblPr>
              <a:tblGrid>
                <a:gridCol w="5502443">
                  <a:extLst>
                    <a:ext uri="{9D8B030D-6E8A-4147-A177-3AD203B41FA5}">
                      <a16:colId xmlns:a16="http://schemas.microsoft.com/office/drawing/2014/main" val="4222893756"/>
                    </a:ext>
                  </a:extLst>
                </a:gridCol>
              </a:tblGrid>
              <a:tr h="1021388">
                <a:tc>
                  <a:txBody>
                    <a:bodyPr/>
                    <a:lstStyle/>
                    <a:p>
                      <a:r>
                        <a:rPr lang="en-US" sz="2000" b="1" dirty="0">
                          <a:solidFill>
                            <a:schemeClr val="tx1"/>
                          </a:solidFill>
                        </a:rPr>
                        <a:t>Machine Learning </a:t>
                      </a:r>
                      <a:r>
                        <a:rPr lang="en-US" sz="2000" b="1" kern="1200" dirty="0">
                          <a:solidFill>
                            <a:schemeClr val="tx1"/>
                          </a:solidFill>
                        </a:rPr>
                        <a:t>algorithm</a:t>
                      </a:r>
                      <a:r>
                        <a:rPr lang="en-US" sz="2000" b="1" dirty="0">
                          <a:solidFill>
                            <a:schemeClr val="tx1"/>
                          </a:solidFill>
                        </a:rPr>
                        <a:t>:</a:t>
                      </a:r>
                    </a:p>
                    <a:p>
                      <a:r>
                        <a:rPr lang="en-US" sz="2000" b="1" dirty="0">
                          <a:solidFill>
                            <a:schemeClr val="tx1"/>
                          </a:solidFill>
                        </a:rPr>
                        <a:t>KNN Classifier</a:t>
                      </a:r>
                      <a:endParaRPr lang="en-US" sz="20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5954336"/>
                  </a:ext>
                </a:extLst>
              </a:tr>
              <a:tr h="2404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highlight>
                            <a:srgbClr val="FFFF00"/>
                          </a:highlight>
                        </a:rPr>
                        <a:t>Purpose of the ML model: The model can correctly predict the subscription type (Free Trial, Basic, Premium) based on user behavior and usage patterns.</a:t>
                      </a:r>
                      <a:endParaRPr lang="en-US" sz="2400" dirty="0">
                        <a:solidFill>
                          <a:schemeClr val="bg1"/>
                        </a:solidFill>
                        <a:highlight>
                          <a:srgbClr val="FFFF00"/>
                        </a:highligh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22179466"/>
                  </a:ext>
                </a:extLst>
              </a:tr>
              <a:tr h="164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Input Data:‘watch_duration_minutes’, ‘completion_percentage’, ‘paused_times’, ‘rating’, ‘subscription_duration_days’</a:t>
                      </a:r>
                    </a:p>
                    <a:p>
                      <a:endParaRPr lang="en-US" sz="140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80798213"/>
                  </a:ext>
                </a:extLst>
              </a:tr>
              <a:tr h="553356">
                <a:tc>
                  <a:txBody>
                    <a:bodyPr/>
                    <a:lstStyle/>
                    <a:p>
                      <a:r>
                        <a:rPr lang="en-US" sz="1800" dirty="0">
                          <a:solidFill>
                            <a:schemeClr val="tx1"/>
                          </a:solidFill>
                        </a:rPr>
                        <a:t>Output of ML model: subscription_type</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3389055"/>
                  </a:ext>
                </a:extLst>
              </a:tr>
              <a:tr h="12331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Model Performance: Model is reliable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Accuracy: 75%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F1 score: 75%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942434"/>
                  </a:ext>
                </a:extLst>
              </a:tr>
            </a:tbl>
          </a:graphicData>
        </a:graphic>
      </p:graphicFrame>
      <p:cxnSp>
        <p:nvCxnSpPr>
          <p:cNvPr id="3" name="Straight Connector 2">
            <a:extLst>
              <a:ext uri="{FF2B5EF4-FFF2-40B4-BE49-F238E27FC236}">
                <a16:creationId xmlns:a16="http://schemas.microsoft.com/office/drawing/2014/main" id="{56A7F7B6-5BC7-8AF1-16E9-F951CD0BFCC9}"/>
              </a:ext>
            </a:extLst>
          </p:cNvPr>
          <p:cNvCxnSpPr/>
          <p:nvPr/>
        </p:nvCxnSpPr>
        <p:spPr>
          <a:xfrm>
            <a:off x="5919537" y="-1"/>
            <a:ext cx="0" cy="685800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EB632693-E789-F19B-40BC-08BFA8D7ED46}"/>
              </a:ext>
            </a:extLst>
          </p:cNvPr>
          <p:cNvSpPr>
            <a:spLocks noGrp="1"/>
          </p:cNvSpPr>
          <p:nvPr>
            <p:ph type="sldNum" sz="quarter" idx="12"/>
          </p:nvPr>
        </p:nvSpPr>
        <p:spPr/>
        <p:txBody>
          <a:bodyPr/>
          <a:lstStyle/>
          <a:p>
            <a:fld id="{5D5AD61A-4527-44E7-8BC9-F936DAF23490}" type="slidenum">
              <a:rPr lang="en-US" smtClean="0"/>
              <a:t>11</a:t>
            </a:fld>
            <a:endParaRPr lang="en-US" dirty="0"/>
          </a:p>
        </p:txBody>
      </p:sp>
    </p:spTree>
    <p:extLst>
      <p:ext uri="{BB962C8B-B14F-4D97-AF65-F5344CB8AC3E}">
        <p14:creationId xmlns:p14="http://schemas.microsoft.com/office/powerpoint/2010/main" val="1006406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162E3F7-973F-0877-E8E2-B5E3A474E173}"/>
              </a:ext>
            </a:extLst>
          </p:cNvPr>
          <p:cNvGraphicFramePr>
            <a:graphicFrameLocks noGrp="1"/>
          </p:cNvGraphicFramePr>
          <p:nvPr>
            <p:extLst>
              <p:ext uri="{D42A27DB-BD31-4B8C-83A1-F6EECF244321}">
                <p14:modId xmlns:p14="http://schemas.microsoft.com/office/powerpoint/2010/main" val="3605899038"/>
              </p:ext>
            </p:extLst>
          </p:nvPr>
        </p:nvGraphicFramePr>
        <p:xfrm>
          <a:off x="6533535" y="162232"/>
          <a:ext cx="5658465" cy="6646012"/>
        </p:xfrm>
        <a:graphic>
          <a:graphicData uri="http://schemas.openxmlformats.org/drawingml/2006/table">
            <a:tbl>
              <a:tblPr firstRow="1" bandRow="1">
                <a:tableStyleId>{2D5ABB26-0587-4C30-8999-92F81FD0307C}</a:tableStyleId>
              </a:tblPr>
              <a:tblGrid>
                <a:gridCol w="5658465">
                  <a:extLst>
                    <a:ext uri="{9D8B030D-6E8A-4147-A177-3AD203B41FA5}">
                      <a16:colId xmlns:a16="http://schemas.microsoft.com/office/drawing/2014/main" val="4222893756"/>
                    </a:ext>
                  </a:extLst>
                </a:gridCol>
              </a:tblGrid>
              <a:tr h="925058">
                <a:tc>
                  <a:txBody>
                    <a:bodyPr/>
                    <a:lstStyle/>
                    <a:p>
                      <a:r>
                        <a:rPr lang="en-US" sz="2000" b="1" dirty="0">
                          <a:solidFill>
                            <a:schemeClr val="tx1"/>
                          </a:solidFill>
                        </a:rPr>
                        <a:t>Machine Learning algorithm:  KNN Regressor</a:t>
                      </a:r>
                      <a:endParaRPr lang="en-US" sz="20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5954336"/>
                  </a:ext>
                </a:extLst>
              </a:tr>
              <a:tr h="21779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highlight>
                            <a:srgbClr val="FFFF00"/>
                          </a:highlight>
                        </a:rPr>
                        <a:t>Purpose of the ML model: </a:t>
                      </a:r>
                      <a:r>
                        <a:rPr lang="en-US" sz="2400" b="0" dirty="0">
                          <a:solidFill>
                            <a:schemeClr val="bg1"/>
                          </a:solidFill>
                          <a:highlight>
                            <a:srgbClr val="FFFF00"/>
                          </a:highlight>
                        </a:rPr>
                        <a:t>The model predicts the popularity score of OTT content using nearest-neighbor similarity patterns.</a:t>
                      </a:r>
                      <a:endParaRPr lang="en-US" sz="2400" b="0" dirty="0">
                        <a:solidFill>
                          <a:schemeClr val="bg1"/>
                        </a:solidFill>
                        <a:highlight>
                          <a:srgbClr val="FFFF00"/>
                        </a:highligh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22179466"/>
                  </a:ext>
                </a:extLst>
              </a:tr>
              <a:tr h="1490180">
                <a:tc>
                  <a:txBody>
                    <a:bodyPr/>
                    <a:lstStyle/>
                    <a:p>
                      <a:r>
                        <a:rPr lang="en-US" sz="2400" b="0" dirty="0">
                          <a:solidFill>
                            <a:schemeClr val="tx1"/>
                          </a:solidFill>
                        </a:rPr>
                        <a:t>Input Data:  duration numeric, engagement proxy,    genre count, content age years</a:t>
                      </a:r>
                      <a:endParaRPr lang="en-US" sz="24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80798213"/>
                  </a:ext>
                </a:extLst>
              </a:tr>
              <a:tr h="925058">
                <a:tc>
                  <a:txBody>
                    <a:bodyPr/>
                    <a:lstStyle/>
                    <a:p>
                      <a:r>
                        <a:rPr lang="en-US" sz="2400" b="0" dirty="0">
                          <a:solidFill>
                            <a:schemeClr val="tx1"/>
                          </a:solidFill>
                        </a:rPr>
                        <a:t>Output of ML model: Popularity score</a:t>
                      </a:r>
                      <a:endParaRPr lang="en-US" sz="24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3389055"/>
                  </a:ext>
                </a:extLst>
              </a:tr>
              <a:tr h="9710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Model Performance: R² Score: 90.76%</a:t>
                      </a:r>
                      <a:br>
                        <a:rPr lang="en-US" sz="2400" b="0" dirty="0">
                          <a:solidFill>
                            <a:schemeClr val="tx1"/>
                          </a:solidFill>
                        </a:rPr>
                      </a:br>
                      <a:r>
                        <a:rPr lang="en-US" sz="2400" b="0" dirty="0">
                          <a:solidFill>
                            <a:schemeClr val="tx1"/>
                          </a:solidFill>
                        </a:rPr>
                        <a:t>MSE: 1.36</a:t>
                      </a:r>
                      <a:endParaRPr lang="en-US" sz="2400" b="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942434"/>
                  </a:ext>
                </a:extLst>
              </a:tr>
            </a:tbl>
          </a:graphicData>
        </a:graphic>
      </p:graphicFrame>
      <p:sp>
        <p:nvSpPr>
          <p:cNvPr id="6" name="TextBox 5">
            <a:extLst>
              <a:ext uri="{FF2B5EF4-FFF2-40B4-BE49-F238E27FC236}">
                <a16:creationId xmlns:a16="http://schemas.microsoft.com/office/drawing/2014/main" id="{FE56BD24-746D-A36A-C919-B8568AD45DC4}"/>
              </a:ext>
            </a:extLst>
          </p:cNvPr>
          <p:cNvSpPr txBox="1"/>
          <p:nvPr/>
        </p:nvSpPr>
        <p:spPr>
          <a:xfrm>
            <a:off x="2134828" y="5391648"/>
            <a:ext cx="2435941"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Best K value = 2</a:t>
            </a:r>
          </a:p>
        </p:txBody>
      </p:sp>
      <p:pic>
        <p:nvPicPr>
          <p:cNvPr id="2" name="Picture 1">
            <a:extLst>
              <a:ext uri="{FF2B5EF4-FFF2-40B4-BE49-F238E27FC236}">
                <a16:creationId xmlns:a16="http://schemas.microsoft.com/office/drawing/2014/main" id="{A88BC46E-1607-EB81-4430-1AEE63E03273}"/>
              </a:ext>
            </a:extLst>
          </p:cNvPr>
          <p:cNvPicPr>
            <a:picLocks noChangeAspect="1"/>
          </p:cNvPicPr>
          <p:nvPr/>
        </p:nvPicPr>
        <p:blipFill>
          <a:blip r:embed="rId2"/>
          <a:stretch>
            <a:fillRect/>
          </a:stretch>
        </p:blipFill>
        <p:spPr>
          <a:xfrm>
            <a:off x="401570" y="1281686"/>
            <a:ext cx="5902459" cy="3997613"/>
          </a:xfrm>
          <a:prstGeom prst="rect">
            <a:avLst/>
          </a:prstGeom>
        </p:spPr>
      </p:pic>
      <p:sp>
        <p:nvSpPr>
          <p:cNvPr id="3" name="Slide Number Placeholder 2">
            <a:extLst>
              <a:ext uri="{FF2B5EF4-FFF2-40B4-BE49-F238E27FC236}">
                <a16:creationId xmlns:a16="http://schemas.microsoft.com/office/drawing/2014/main" id="{1536895B-2694-6239-37DB-49E4CBD60453}"/>
              </a:ext>
            </a:extLst>
          </p:cNvPr>
          <p:cNvSpPr>
            <a:spLocks noGrp="1"/>
          </p:cNvSpPr>
          <p:nvPr>
            <p:ph type="sldNum" sz="quarter" idx="12"/>
          </p:nvPr>
        </p:nvSpPr>
        <p:spPr/>
        <p:txBody>
          <a:bodyPr/>
          <a:lstStyle/>
          <a:p>
            <a:fld id="{5D5AD61A-4527-44E7-8BC9-F936DAF23490}" type="slidenum">
              <a:rPr lang="en-US" smtClean="0"/>
              <a:t>12</a:t>
            </a:fld>
            <a:endParaRPr lang="en-US" dirty="0"/>
          </a:p>
        </p:txBody>
      </p:sp>
    </p:spTree>
    <p:extLst>
      <p:ext uri="{BB962C8B-B14F-4D97-AF65-F5344CB8AC3E}">
        <p14:creationId xmlns:p14="http://schemas.microsoft.com/office/powerpoint/2010/main" val="2977111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B9857-D82C-D680-478F-258BBCABEDAB}"/>
              </a:ext>
            </a:extLst>
          </p:cNvPr>
          <p:cNvSpPr>
            <a:spLocks noGrp="1"/>
          </p:cNvSpPr>
          <p:nvPr>
            <p:ph type="title"/>
          </p:nvPr>
        </p:nvSpPr>
        <p:spPr>
          <a:xfrm>
            <a:off x="1037306" y="206479"/>
            <a:ext cx="9905998" cy="1032386"/>
          </a:xfrm>
        </p:spPr>
        <p:txBody>
          <a:bodyPr>
            <a:normAutofit/>
          </a:bodyPr>
          <a:lstStyle/>
          <a:p>
            <a:pPr algn="ctr"/>
            <a:r>
              <a:rPr lang="en-US" sz="4400" b="1" dirty="0"/>
              <a:t>statistical test: T-test</a:t>
            </a:r>
          </a:p>
        </p:txBody>
      </p:sp>
      <p:sp>
        <p:nvSpPr>
          <p:cNvPr id="4" name="Rectangle: Rounded Corners 3">
            <a:extLst>
              <a:ext uri="{FF2B5EF4-FFF2-40B4-BE49-F238E27FC236}">
                <a16:creationId xmlns:a16="http://schemas.microsoft.com/office/drawing/2014/main" id="{4D9ABFD0-1891-B176-B31F-DBFF6DD2CB50}"/>
              </a:ext>
            </a:extLst>
          </p:cNvPr>
          <p:cNvSpPr/>
          <p:nvPr/>
        </p:nvSpPr>
        <p:spPr>
          <a:xfrm>
            <a:off x="938981" y="1238865"/>
            <a:ext cx="10314037" cy="181405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We conducted a </a:t>
            </a:r>
            <a:r>
              <a:rPr lang="en-US" b="1" dirty="0">
                <a:solidFill>
                  <a:schemeClr val="bg1"/>
                </a:solidFill>
                <a:latin typeface="Times New Roman" panose="02020603050405020304" pitchFamily="18" charset="0"/>
                <a:cs typeface="Times New Roman" panose="02020603050405020304" pitchFamily="18" charset="0"/>
              </a:rPr>
              <a:t>T-Test</a:t>
            </a:r>
            <a:r>
              <a:rPr lang="en-US" dirty="0">
                <a:solidFill>
                  <a:schemeClr val="bg1"/>
                </a:solidFill>
                <a:latin typeface="Times New Roman" panose="02020603050405020304" pitchFamily="18" charset="0"/>
                <a:cs typeface="Times New Roman" panose="02020603050405020304" pitchFamily="18" charset="0"/>
              </a:rPr>
              <a:t> to analyze whether churned users watch content differently compared to non-churned users. This helps us understand if watch time is a strong indicator of user retention.</a:t>
            </a:r>
          </a:p>
          <a:p>
            <a:pPr algn="ctr"/>
            <a:r>
              <a:rPr lang="en-US" b="1" dirty="0">
                <a:solidFill>
                  <a:schemeClr val="bg1"/>
                </a:solidFill>
                <a:latin typeface="Times New Roman" panose="02020603050405020304" pitchFamily="18" charset="0"/>
                <a:cs typeface="Times New Roman" panose="02020603050405020304" pitchFamily="18" charset="0"/>
              </a:rPr>
              <a:t>No Significant Difference Found in Watch Time between Churned and Active Users</a:t>
            </a:r>
          </a:p>
        </p:txBody>
      </p:sp>
      <p:sp>
        <p:nvSpPr>
          <p:cNvPr id="6" name="Rectangle: Rounded Corners 5">
            <a:extLst>
              <a:ext uri="{FF2B5EF4-FFF2-40B4-BE49-F238E27FC236}">
                <a16:creationId xmlns:a16="http://schemas.microsoft.com/office/drawing/2014/main" id="{92DB25BC-C94F-7B63-8E8C-606613FD69AE}"/>
              </a:ext>
            </a:extLst>
          </p:cNvPr>
          <p:cNvSpPr/>
          <p:nvPr/>
        </p:nvSpPr>
        <p:spPr>
          <a:xfrm>
            <a:off x="1696065" y="3628103"/>
            <a:ext cx="9144000" cy="219751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BUSINESS DECISION:</a:t>
            </a:r>
          </a:p>
          <a:p>
            <a:pPr algn="ct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Watch time alone does not explain churn behavior. The platform should not rely solely on increasing watch duration to improve retention and should explore other engagement factors.</a:t>
            </a:r>
          </a:p>
          <a:p>
            <a:pPr algn="ctr"/>
            <a:endParaRPr lang="en-US" b="1" dirty="0">
              <a:solidFill>
                <a:schemeClr val="bg1"/>
              </a:solidFill>
            </a:endParaRPr>
          </a:p>
        </p:txBody>
      </p:sp>
      <p:sp>
        <p:nvSpPr>
          <p:cNvPr id="9" name="Slide Number Placeholder 8">
            <a:extLst>
              <a:ext uri="{FF2B5EF4-FFF2-40B4-BE49-F238E27FC236}">
                <a16:creationId xmlns:a16="http://schemas.microsoft.com/office/drawing/2014/main" id="{5354DDFB-9F6A-D921-CC0D-01D610BFB578}"/>
              </a:ext>
            </a:extLst>
          </p:cNvPr>
          <p:cNvSpPr>
            <a:spLocks noGrp="1"/>
          </p:cNvSpPr>
          <p:nvPr>
            <p:ph type="sldNum" sz="quarter" idx="12"/>
          </p:nvPr>
        </p:nvSpPr>
        <p:spPr/>
        <p:txBody>
          <a:bodyPr/>
          <a:lstStyle/>
          <a:p>
            <a:fld id="{5D5AD61A-4527-44E7-8BC9-F936DAF23490}" type="slidenum">
              <a:rPr lang="en-US" smtClean="0"/>
              <a:t>13</a:t>
            </a:fld>
            <a:endParaRPr lang="en-US" dirty="0"/>
          </a:p>
        </p:txBody>
      </p:sp>
    </p:spTree>
    <p:extLst>
      <p:ext uri="{BB962C8B-B14F-4D97-AF65-F5344CB8AC3E}">
        <p14:creationId xmlns:p14="http://schemas.microsoft.com/office/powerpoint/2010/main" val="2637606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4A0DBD8-7CE2-235B-8B57-8EA56456C49B}"/>
              </a:ext>
            </a:extLst>
          </p:cNvPr>
          <p:cNvSpPr/>
          <p:nvPr/>
        </p:nvSpPr>
        <p:spPr>
          <a:xfrm>
            <a:off x="884904" y="1047135"/>
            <a:ext cx="10574593" cy="207214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We conducted a </a:t>
            </a:r>
            <a:r>
              <a:rPr lang="en-US" b="1" dirty="0">
                <a:solidFill>
                  <a:schemeClr val="bg1"/>
                </a:solidFill>
                <a:latin typeface="Times New Roman" panose="02020603050405020304" pitchFamily="18" charset="0"/>
                <a:cs typeface="Times New Roman" panose="02020603050405020304" pitchFamily="18" charset="0"/>
              </a:rPr>
              <a:t>Chi-Square Test </a:t>
            </a:r>
            <a:r>
              <a:rPr lang="en-US" dirty="0">
                <a:solidFill>
                  <a:schemeClr val="bg1"/>
                </a:solidFill>
                <a:latin typeface="Times New Roman" panose="02020603050405020304" pitchFamily="18" charset="0"/>
                <a:cs typeface="Times New Roman" panose="02020603050405020304" pitchFamily="18" charset="0"/>
              </a:rPr>
              <a:t>to analyze whether subscription type influences churn behavior.</a:t>
            </a:r>
          </a:p>
          <a:p>
            <a:pPr algn="ctr"/>
            <a:r>
              <a:rPr lang="en-US" dirty="0">
                <a:solidFill>
                  <a:schemeClr val="bg1"/>
                </a:solidFill>
                <a:latin typeface="Times New Roman" panose="02020603050405020304" pitchFamily="18" charset="0"/>
                <a:cs typeface="Times New Roman" panose="02020603050405020304" pitchFamily="18" charset="0"/>
              </a:rPr>
              <a:t>This helps identify if certain subscription plans are more prone to user drop-off.</a:t>
            </a:r>
          </a:p>
          <a:p>
            <a:pPr algn="ctr"/>
            <a:r>
              <a:rPr lang="en-US" b="1" dirty="0">
                <a:solidFill>
                  <a:schemeClr val="bg1"/>
                </a:solidFill>
                <a:latin typeface="Times New Roman" panose="02020603050405020304" pitchFamily="18" charset="0"/>
                <a:cs typeface="Times New Roman" panose="02020603050405020304" pitchFamily="18" charset="0"/>
              </a:rPr>
              <a:t>Significant Relationship Found between Subscription Type and Churn Flag</a:t>
            </a:r>
          </a:p>
        </p:txBody>
      </p:sp>
      <p:sp>
        <p:nvSpPr>
          <p:cNvPr id="8" name="Rectangle: Rounded Corners 7">
            <a:extLst>
              <a:ext uri="{FF2B5EF4-FFF2-40B4-BE49-F238E27FC236}">
                <a16:creationId xmlns:a16="http://schemas.microsoft.com/office/drawing/2014/main" id="{480ACF99-7E3F-0181-3BC9-270F9B31628E}"/>
              </a:ext>
            </a:extLst>
          </p:cNvPr>
          <p:cNvSpPr/>
          <p:nvPr/>
        </p:nvSpPr>
        <p:spPr>
          <a:xfrm>
            <a:off x="1401098" y="3620724"/>
            <a:ext cx="9542206" cy="193941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BUSINESS DECISION</a:t>
            </a:r>
            <a:r>
              <a:rPr lang="en-US" dirty="0">
                <a:solidFill>
                  <a:schemeClr val="bg1"/>
                </a:solidFill>
                <a:latin typeface="Times New Roman" panose="02020603050405020304" pitchFamily="18" charset="0"/>
                <a:cs typeface="Times New Roman" panose="02020603050405020304" pitchFamily="18" charset="0"/>
              </a:rPr>
              <a:t>: </a:t>
            </a:r>
          </a:p>
          <a:p>
            <a:pPr algn="ctr"/>
            <a:r>
              <a:rPr lang="en-US" dirty="0">
                <a:solidFill>
                  <a:schemeClr val="bg1"/>
                </a:solidFill>
                <a:latin typeface="Times New Roman" panose="02020603050405020304" pitchFamily="18" charset="0"/>
                <a:cs typeface="Times New Roman" panose="02020603050405020304" pitchFamily="18" charset="0"/>
              </a:rPr>
              <a:t>Subscription type impacts churn. The platform should design plan-specific retention strategies, such as improving value perception or benefits in plans with higher churn.</a:t>
            </a:r>
          </a:p>
        </p:txBody>
      </p:sp>
      <p:sp>
        <p:nvSpPr>
          <p:cNvPr id="2" name="Title 1">
            <a:extLst>
              <a:ext uri="{FF2B5EF4-FFF2-40B4-BE49-F238E27FC236}">
                <a16:creationId xmlns:a16="http://schemas.microsoft.com/office/drawing/2014/main" id="{3A41ECE3-3C47-45C7-295A-3AB0A47664F3}"/>
              </a:ext>
            </a:extLst>
          </p:cNvPr>
          <p:cNvSpPr txBox="1">
            <a:spLocks/>
          </p:cNvSpPr>
          <p:nvPr/>
        </p:nvSpPr>
        <p:spPr>
          <a:xfrm>
            <a:off x="1037306" y="206479"/>
            <a:ext cx="9905998" cy="1032386"/>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400" b="1" dirty="0"/>
              <a:t>statistical test: CHI-SQUARE TEST</a:t>
            </a:r>
          </a:p>
        </p:txBody>
      </p:sp>
      <p:sp>
        <p:nvSpPr>
          <p:cNvPr id="3" name="Slide Number Placeholder 2">
            <a:extLst>
              <a:ext uri="{FF2B5EF4-FFF2-40B4-BE49-F238E27FC236}">
                <a16:creationId xmlns:a16="http://schemas.microsoft.com/office/drawing/2014/main" id="{2E46DE6E-0164-9F0F-2588-806A176AA426}"/>
              </a:ext>
            </a:extLst>
          </p:cNvPr>
          <p:cNvSpPr>
            <a:spLocks noGrp="1"/>
          </p:cNvSpPr>
          <p:nvPr>
            <p:ph type="sldNum" sz="quarter" idx="12"/>
          </p:nvPr>
        </p:nvSpPr>
        <p:spPr/>
        <p:txBody>
          <a:bodyPr/>
          <a:lstStyle/>
          <a:p>
            <a:fld id="{5D5AD61A-4527-44E7-8BC9-F936DAF23490}" type="slidenum">
              <a:rPr lang="en-US" smtClean="0"/>
              <a:t>14</a:t>
            </a:fld>
            <a:endParaRPr lang="en-US" dirty="0"/>
          </a:p>
        </p:txBody>
      </p:sp>
    </p:spTree>
    <p:extLst>
      <p:ext uri="{BB962C8B-B14F-4D97-AF65-F5344CB8AC3E}">
        <p14:creationId xmlns:p14="http://schemas.microsoft.com/office/powerpoint/2010/main" val="214189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3BCA7-0247-72A3-1258-A63E1AD19A6B}"/>
              </a:ext>
            </a:extLst>
          </p:cNvPr>
          <p:cNvSpPr>
            <a:spLocks noGrp="1"/>
          </p:cNvSpPr>
          <p:nvPr>
            <p:ph type="title"/>
          </p:nvPr>
        </p:nvSpPr>
        <p:spPr>
          <a:xfrm>
            <a:off x="4639597" y="308801"/>
            <a:ext cx="2814482" cy="826825"/>
          </a:xfrm>
          <a:noFill/>
        </p:spPr>
        <p:txBody>
          <a:bodyPr>
            <a:normAutofit/>
          </a:bodyPr>
          <a:lstStyle/>
          <a:p>
            <a:pPr algn="ctr"/>
            <a:r>
              <a:rPr lang="en-US" b="1" dirty="0">
                <a:latin typeface="Times New Roman" panose="02020603050405020304" pitchFamily="18" charset="0"/>
                <a:cs typeface="Times New Roman" panose="02020603050405020304" pitchFamily="18" charset="0"/>
              </a:rPr>
              <a:t>Summary</a:t>
            </a:r>
          </a:p>
        </p:txBody>
      </p:sp>
      <p:sp>
        <p:nvSpPr>
          <p:cNvPr id="3" name="Content Placeholder 2">
            <a:extLst>
              <a:ext uri="{FF2B5EF4-FFF2-40B4-BE49-F238E27FC236}">
                <a16:creationId xmlns:a16="http://schemas.microsoft.com/office/drawing/2014/main" id="{ECE7309C-7442-17C9-7A99-C918C540C18A}"/>
              </a:ext>
            </a:extLst>
          </p:cNvPr>
          <p:cNvSpPr>
            <a:spLocks noGrp="1"/>
          </p:cNvSpPr>
          <p:nvPr>
            <p:ph idx="1"/>
          </p:nvPr>
        </p:nvSpPr>
        <p:spPr>
          <a:xfrm>
            <a:off x="781665" y="1342103"/>
            <a:ext cx="10913806" cy="4875817"/>
          </a:xfrm>
        </p:spPr>
        <p:txBody>
          <a:bodyPr>
            <a:normAutofit fontScale="92500" lnSpcReduction="10000"/>
          </a:bodyPr>
          <a:lstStyle/>
          <a:p>
            <a:r>
              <a:rPr lang="en-US" sz="2400" dirty="0">
                <a:latin typeface="Arial" panose="020B0604020202020204" pitchFamily="34" charset="0"/>
                <a:cs typeface="Arial" panose="020B0604020202020204" pitchFamily="34" charset="0"/>
              </a:rPr>
              <a:t>Total activity is stable with ~30,000 sessions, but no strong growth trend is visible </a:t>
            </a:r>
          </a:p>
          <a:p>
            <a:r>
              <a:rPr lang="en-US" sz="2400" dirty="0">
                <a:latin typeface="Arial" panose="020B0604020202020204" pitchFamily="34" charset="0"/>
                <a:cs typeface="Arial" panose="020B0604020202020204" pitchFamily="34" charset="0"/>
              </a:rPr>
              <a:t>Free users generate the highest watch time (~1.86M minutes) compared to Premium (~1.79M) and Basic (~1.78M) </a:t>
            </a:r>
          </a:p>
          <a:p>
            <a:r>
              <a:rPr lang="en-US" sz="2400" dirty="0">
                <a:latin typeface="Arial" panose="020B0604020202020204" pitchFamily="34" charset="0"/>
                <a:cs typeface="Arial" panose="020B0604020202020204" pitchFamily="34" charset="0"/>
              </a:rPr>
              <a:t>User feedback is almost evenly split </a:t>
            </a:r>
          </a:p>
          <a:p>
            <a:pPr lvl="1"/>
            <a:r>
              <a:rPr lang="en-US" sz="2400" dirty="0">
                <a:latin typeface="Arial" panose="020B0604020202020204" pitchFamily="34" charset="0"/>
                <a:cs typeface="Arial" panose="020B0604020202020204" pitchFamily="34" charset="0"/>
              </a:rPr>
              <a:t>Positive: ~40% </a:t>
            </a:r>
          </a:p>
          <a:p>
            <a:pPr lvl="1"/>
            <a:r>
              <a:rPr lang="en-US" sz="2400" dirty="0">
                <a:latin typeface="Arial" panose="020B0604020202020204" pitchFamily="34" charset="0"/>
                <a:cs typeface="Arial" panose="020B0604020202020204" pitchFamily="34" charset="0"/>
              </a:rPr>
              <a:t>Negative: ~39% </a:t>
            </a:r>
          </a:p>
          <a:p>
            <a:pPr lvl="1"/>
            <a:r>
              <a:rPr lang="en-US" sz="2400" dirty="0">
                <a:latin typeface="Arial" panose="020B0604020202020204" pitchFamily="34" charset="0"/>
                <a:cs typeface="Arial" panose="020B0604020202020204" pitchFamily="34" charset="0"/>
              </a:rPr>
              <a:t>Neutral: ~20% </a:t>
            </a:r>
          </a:p>
          <a:p>
            <a:r>
              <a:rPr lang="en-US" sz="2400" dirty="0">
                <a:latin typeface="Arial" panose="020B0604020202020204" pitchFamily="34" charset="0"/>
                <a:cs typeface="Arial" panose="020B0604020202020204" pitchFamily="34" charset="0"/>
              </a:rPr>
              <a:t>Average content completion is only ~52%, meaning users are watching just half of the content </a:t>
            </a:r>
          </a:p>
          <a:p>
            <a:r>
              <a:rPr lang="en-US" sz="2400" dirty="0">
                <a:latin typeface="Arial" panose="020B0604020202020204" pitchFamily="34" charset="0"/>
                <a:cs typeface="Arial" panose="020B0604020202020204" pitchFamily="34" charset="0"/>
              </a:rPr>
              <a:t>Peak usage happens at night (~1.42M minutes), which is higher than other time periods </a:t>
            </a:r>
          </a:p>
          <a:p>
            <a:endParaRPr lang="en-US"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0D25434-EC68-DCC5-0AD6-052812BF4585}"/>
              </a:ext>
            </a:extLst>
          </p:cNvPr>
          <p:cNvSpPr>
            <a:spLocks noGrp="1"/>
          </p:cNvSpPr>
          <p:nvPr>
            <p:ph type="sldNum" sz="quarter" idx="12"/>
          </p:nvPr>
        </p:nvSpPr>
        <p:spPr/>
        <p:txBody>
          <a:bodyPr/>
          <a:lstStyle/>
          <a:p>
            <a:fld id="{5D5AD61A-4527-44E7-8BC9-F936DAF23490}" type="slidenum">
              <a:rPr lang="en-US" smtClean="0"/>
              <a:t>15</a:t>
            </a:fld>
            <a:endParaRPr lang="en-US" dirty="0"/>
          </a:p>
        </p:txBody>
      </p:sp>
    </p:spTree>
    <p:extLst>
      <p:ext uri="{BB962C8B-B14F-4D97-AF65-F5344CB8AC3E}">
        <p14:creationId xmlns:p14="http://schemas.microsoft.com/office/powerpoint/2010/main" val="1431557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9B345-34DD-AEC3-D644-42038B057EAD}"/>
              </a:ext>
            </a:extLst>
          </p:cNvPr>
          <p:cNvSpPr>
            <a:spLocks noGrp="1"/>
          </p:cNvSpPr>
          <p:nvPr>
            <p:ph type="title"/>
          </p:nvPr>
        </p:nvSpPr>
        <p:spPr>
          <a:xfrm>
            <a:off x="4154646" y="-121862"/>
            <a:ext cx="3303640" cy="1136540"/>
          </a:xfrm>
        </p:spPr>
        <p:txBody>
          <a:bodyPr>
            <a:normAutofit/>
          </a:bodyPr>
          <a:lstStyle/>
          <a:p>
            <a:pPr algn="ctr"/>
            <a:r>
              <a:rPr lang="en-US"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3044A99-0F75-3109-CABF-B9A40046F662}"/>
              </a:ext>
            </a:extLst>
          </p:cNvPr>
          <p:cNvSpPr>
            <a:spLocks noGrp="1"/>
          </p:cNvSpPr>
          <p:nvPr>
            <p:ph idx="1"/>
          </p:nvPr>
        </p:nvSpPr>
        <p:spPr>
          <a:xfrm>
            <a:off x="176982" y="852444"/>
            <a:ext cx="11774386" cy="5858071"/>
          </a:xfrm>
        </p:spPr>
        <p:txBody>
          <a:bodyPr>
            <a:normAutofit/>
          </a:bodyPr>
          <a:lstStyle/>
          <a:p>
            <a:pPr>
              <a:buFont typeface="Wingdings" panose="05000000000000000000" pitchFamily="2" charset="2"/>
              <a:buChar char="q"/>
            </a:pPr>
            <a:r>
              <a:rPr lang="en-US" sz="2000" dirty="0">
                <a:cs typeface="Arial" panose="020B0604020202020204" pitchFamily="34" charset="0"/>
              </a:rPr>
              <a:t>Main concern we can retain the customers, but growth is not observed. Suggestions for growth:</a:t>
            </a:r>
          </a:p>
          <a:p>
            <a:pPr>
              <a:buFont typeface="Wingdings" panose="05000000000000000000" pitchFamily="2" charset="2"/>
              <a:buChar char="q"/>
            </a:pPr>
            <a:r>
              <a:rPr lang="en-US" sz="1800" dirty="0"/>
              <a:t>How to increase watch time </a:t>
            </a:r>
            <a:r>
              <a:rPr lang="en-US" sz="1800" dirty="0">
                <a:cs typeface="Times New Roman" panose="02020603050405020304" pitchFamily="18" charset="0"/>
              </a:rPr>
              <a:t>For Morning content: Include light musical content like sober music or religious songs like bhajans, Gurbani or  hymns or regional songs like Karnatic music</a:t>
            </a:r>
          </a:p>
          <a:p>
            <a:pPr>
              <a:buFont typeface="Wingdings" panose="05000000000000000000" pitchFamily="2" charset="2"/>
              <a:buChar char="q"/>
            </a:pPr>
            <a:r>
              <a:rPr lang="en-US" sz="1800" dirty="0"/>
              <a:t>How to convert "Subscription Type":</a:t>
            </a:r>
          </a:p>
          <a:p>
            <a:pPr lvl="1">
              <a:lnSpc>
                <a:spcPct val="150000"/>
              </a:lnSpc>
              <a:buFont typeface="Wingdings" panose="05000000000000000000" pitchFamily="2" charset="2"/>
              <a:buChar char="q"/>
            </a:pPr>
            <a:r>
              <a:rPr lang="en-US" sz="1800" dirty="0"/>
              <a:t>from basic to Premium: Keep celebrities-based content for only premium users</a:t>
            </a:r>
          </a:p>
          <a:p>
            <a:pPr>
              <a:lnSpc>
                <a:spcPct val="150000"/>
              </a:lnSpc>
              <a:buFont typeface="Wingdings" panose="05000000000000000000" pitchFamily="2" charset="2"/>
              <a:buChar char="q"/>
            </a:pPr>
            <a:r>
              <a:rPr lang="en-US" sz="1800" dirty="0"/>
              <a:t>Bucket users to understand who are consider as high risk of quitting the platform. Identify:</a:t>
            </a:r>
          </a:p>
          <a:p>
            <a:pPr lvl="1">
              <a:lnSpc>
                <a:spcPct val="150000"/>
              </a:lnSpc>
              <a:buFont typeface="Wingdings" panose="05000000000000000000" pitchFamily="2" charset="2"/>
              <a:buChar char="q"/>
            </a:pPr>
            <a:r>
              <a:rPr lang="en-US" sz="1800" dirty="0"/>
              <a:t>Prospective users: most users leave subscription after 200 days . New series in every genre should be released after every 150 days.</a:t>
            </a:r>
          </a:p>
          <a:p>
            <a:pPr lvl="1">
              <a:lnSpc>
                <a:spcPct val="150000"/>
              </a:lnSpc>
              <a:buFont typeface="Wingdings" panose="05000000000000000000" pitchFamily="2" charset="2"/>
              <a:buChar char="q"/>
            </a:pPr>
            <a:r>
              <a:rPr lang="en-US" sz="1800" dirty="0"/>
              <a:t>At Risk users: from the new feedback we have collected, improve the features of the app based on user recommendations</a:t>
            </a:r>
          </a:p>
          <a:p>
            <a:pPr lvl="1">
              <a:lnSpc>
                <a:spcPct val="150000"/>
              </a:lnSpc>
              <a:buFont typeface="Wingdings" panose="05000000000000000000" pitchFamily="2" charset="2"/>
              <a:buChar char="q"/>
            </a:pPr>
            <a:r>
              <a:rPr lang="en-US" sz="1800" dirty="0"/>
              <a:t>High Engagers : </a:t>
            </a:r>
            <a:r>
              <a:rPr lang="en-US" sz="1800" dirty="0">
                <a:cs typeface="Arial" panose="020B0604020202020204" pitchFamily="34" charset="0"/>
              </a:rPr>
              <a:t>In night there is highest spike of usage of 1.42 M minutes , so we can plan new series or show releases at night as it will attract more users compare to usual time.</a:t>
            </a:r>
          </a:p>
        </p:txBody>
      </p:sp>
      <p:sp>
        <p:nvSpPr>
          <p:cNvPr id="4" name="Slide Number Placeholder 3">
            <a:extLst>
              <a:ext uri="{FF2B5EF4-FFF2-40B4-BE49-F238E27FC236}">
                <a16:creationId xmlns:a16="http://schemas.microsoft.com/office/drawing/2014/main" id="{FF0EED59-232D-FD5A-DCCF-E22AA54AD147}"/>
              </a:ext>
            </a:extLst>
          </p:cNvPr>
          <p:cNvSpPr>
            <a:spLocks noGrp="1"/>
          </p:cNvSpPr>
          <p:nvPr>
            <p:ph type="sldNum" sz="quarter" idx="12"/>
          </p:nvPr>
        </p:nvSpPr>
        <p:spPr/>
        <p:txBody>
          <a:bodyPr/>
          <a:lstStyle/>
          <a:p>
            <a:fld id="{5D5AD61A-4527-44E7-8BC9-F936DAF23490}" type="slidenum">
              <a:rPr lang="en-US" smtClean="0"/>
              <a:t>16</a:t>
            </a:fld>
            <a:endParaRPr lang="en-US" dirty="0"/>
          </a:p>
        </p:txBody>
      </p:sp>
    </p:spTree>
    <p:extLst>
      <p:ext uri="{BB962C8B-B14F-4D97-AF65-F5344CB8AC3E}">
        <p14:creationId xmlns:p14="http://schemas.microsoft.com/office/powerpoint/2010/main" val="19043732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1110</TotalTime>
  <Words>1505</Words>
  <Application>Microsoft Office PowerPoint</Application>
  <PresentationFormat>Widescreen</PresentationFormat>
  <Paragraphs>161</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Times New Roman</vt:lpstr>
      <vt:lpstr>Tw Cen MT</vt:lpstr>
      <vt:lpstr>Wingdings</vt:lpstr>
      <vt:lpstr>Circuit</vt:lpstr>
      <vt:lpstr>OTT Platform User Analytics</vt:lpstr>
      <vt:lpstr>Business problem and target audience</vt:lpstr>
      <vt:lpstr>Overview of dataset</vt:lpstr>
      <vt:lpstr>PowerPoint Presentation</vt:lpstr>
      <vt:lpstr>Insight 1: Feedback Distribution </vt:lpstr>
      <vt:lpstr>INSIGHT 2: Total rating across subscription plan</vt:lpstr>
      <vt:lpstr>Insight 3: Engagement Level</vt:lpstr>
      <vt:lpstr>INSIGHT 4: Predicting future patterns of sessions</vt:lpstr>
      <vt:lpstr>PowerPoint Presentation</vt:lpstr>
      <vt:lpstr>Why Are At-Risk Users Not Happy?</vt:lpstr>
      <vt:lpstr>PowerPoint Presentation</vt:lpstr>
      <vt:lpstr>PowerPoint Presentation</vt:lpstr>
      <vt:lpstr>statistical test: T-test</vt:lpstr>
      <vt:lpstr>PowerPoint Presentation</vt:lpstr>
      <vt:lpstr>Summary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Office</cp:lastModifiedBy>
  <cp:revision>60</cp:revision>
  <dcterms:created xsi:type="dcterms:W3CDTF">2026-04-21T09:26:57Z</dcterms:created>
  <dcterms:modified xsi:type="dcterms:W3CDTF">2026-05-18T08:30:52Z</dcterms:modified>
</cp:coreProperties>
</file>